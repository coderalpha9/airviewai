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412"/>
        </a:solidFill>
      </p:bgPr>
    </p:bg>
    <p:spTree>
      <p:nvGrpSpPr>
        <p:cNvPr id="1" name=""/>
        <p:cNvGrpSpPr/>
        <p:nvPr/>
      </p:nvGrpSpPr>
      <p:grpSpPr>
        <a:xfrm>
          <a:off x="0" y="0"/>
          <a:ext cx="0" cy="0"/>
          <a:chOff x="0" y="0"/>
          <a:chExt cx="0" cy="0"/>
        </a:xfrm>
      </p:grpSpPr>
      <p:sp>
        <p:nvSpPr>
          <p:cNvPr id="2" name="Text 0"/>
          <p:cNvSpPr/>
          <p:nvPr/>
        </p:nvSpPr>
        <p:spPr>
          <a:xfrm>
            <a:off x="685800" y="658368"/>
            <a:ext cx="5852160" cy="685800"/>
          </a:xfrm>
          <a:prstGeom prst="rect">
            <a:avLst/>
          </a:prstGeom>
          <a:noFill/>
          <a:ln/>
        </p:spPr>
        <p:txBody>
          <a:bodyPr wrap="square" lIns="0" tIns="0" rIns="0" bIns="0" rtlCol="0" anchor="ctr"/>
          <a:lstStyle/>
          <a:p>
            <a:pPr indent="0" marL="0">
              <a:buNone/>
            </a:pPr>
            <a:r>
              <a:rPr lang="en-US" sz="3600" b="1" dirty="0">
                <a:solidFill>
                  <a:srgbClr val="F3FAF7"/>
                </a:solidFill>
                <a:latin typeface="Aptos Display" pitchFamily="34" charset="0"/>
                <a:ea typeface="Aptos Display" pitchFamily="34" charset="-122"/>
                <a:cs typeface="Aptos Display" pitchFamily="34" charset="-120"/>
              </a:rPr>
              <a:t>AIRVIEW AI</a:t>
            </a:r>
            <a:endParaRPr lang="en-US" sz="3600" dirty="0"/>
          </a:p>
        </p:txBody>
      </p:sp>
      <p:sp>
        <p:nvSpPr>
          <p:cNvPr id="3" name="Text 1"/>
          <p:cNvSpPr/>
          <p:nvPr/>
        </p:nvSpPr>
        <p:spPr>
          <a:xfrm>
            <a:off x="713232" y="1389888"/>
            <a:ext cx="6400800" cy="320040"/>
          </a:xfrm>
          <a:prstGeom prst="rect">
            <a:avLst/>
          </a:prstGeom>
          <a:noFill/>
          <a:ln/>
        </p:spPr>
        <p:txBody>
          <a:bodyPr wrap="square" lIns="0" tIns="0" rIns="0" bIns="0" rtlCol="0" anchor="ctr"/>
          <a:lstStyle/>
          <a:p>
            <a:pPr indent="0" marL="0">
              <a:buNone/>
            </a:pPr>
            <a:r>
              <a:rPr lang="en-US" sz="1500" dirty="0">
                <a:solidFill>
                  <a:srgbClr val="13C99B"/>
                </a:solidFill>
              </a:rPr>
              <a:t>Urban air-quality intelligence for smart city intervention</a:t>
            </a:r>
            <a:endParaRPr lang="en-US" sz="1500" dirty="0"/>
          </a:p>
        </p:txBody>
      </p:sp>
      <p:sp>
        <p:nvSpPr>
          <p:cNvPr id="4" name="Text 2"/>
          <p:cNvSpPr/>
          <p:nvPr/>
        </p:nvSpPr>
        <p:spPr>
          <a:xfrm>
            <a:off x="713232" y="1901952"/>
            <a:ext cx="6035040" cy="502920"/>
          </a:xfrm>
          <a:prstGeom prst="rect">
            <a:avLst/>
          </a:prstGeom>
          <a:noFill/>
          <a:ln/>
        </p:spPr>
        <p:txBody>
          <a:bodyPr wrap="square" lIns="0" tIns="0" rIns="0" bIns="0" rtlCol="0" anchor="ctr">
            <a:normAutofit/>
          </a:bodyPr>
          <a:lstStyle/>
          <a:p>
            <a:pPr indent="0" marL="0">
              <a:buNone/>
            </a:pPr>
            <a:r>
              <a:rPr lang="en-US" sz="1200" dirty="0">
                <a:solidFill>
                  <a:srgbClr val="B6C8C1"/>
                </a:solidFill>
              </a:rPr>
              <a:t>Live-provider forecast path + validated replay fallback | Source screening | Enforcement priorities | Citizen advisories</a:t>
            </a:r>
            <a:endParaRPr lang="en-US" sz="1200" dirty="0"/>
          </a:p>
        </p:txBody>
      </p:sp>
      <p:sp>
        <p:nvSpPr>
          <p:cNvPr id="5" name="Shape 3"/>
          <p:cNvSpPr/>
          <p:nvPr/>
        </p:nvSpPr>
        <p:spPr>
          <a:xfrm>
            <a:off x="7132320" y="713232"/>
            <a:ext cx="4069080" cy="4160520"/>
          </a:xfrm>
          <a:prstGeom prst="roundRect">
            <a:avLst>
              <a:gd name="adj" fmla="val 1798"/>
            </a:avLst>
          </a:prstGeom>
          <a:solidFill>
            <a:srgbClr val="0D241E"/>
          </a:solidFill>
          <a:ln w="12700">
            <a:solidFill>
              <a:srgbClr val="225347"/>
            </a:solidFill>
            <a:prstDash val="solid"/>
          </a:ln>
        </p:spPr>
      </p:sp>
      <p:sp>
        <p:nvSpPr>
          <p:cNvPr id="6" name="Text 4"/>
          <p:cNvSpPr/>
          <p:nvPr/>
        </p:nvSpPr>
        <p:spPr>
          <a:xfrm>
            <a:off x="7296912" y="850392"/>
            <a:ext cx="3739896" cy="274320"/>
          </a:xfrm>
          <a:prstGeom prst="rect">
            <a:avLst/>
          </a:prstGeom>
          <a:noFill/>
          <a:ln/>
        </p:spPr>
        <p:txBody>
          <a:bodyPr wrap="square" lIns="0" tIns="0" rIns="0" bIns="0" rtlCol="0" anchor="ctr"/>
          <a:lstStyle/>
          <a:p>
            <a:pPr indent="0" marL="0">
              <a:buNone/>
            </a:pPr>
            <a:r>
              <a:rPr lang="en-US" sz="1200" b="1" dirty="0">
                <a:solidFill>
                  <a:srgbClr val="F3FAF7"/>
                </a:solidFill>
              </a:rPr>
              <a:t>Hackathon focus</a:t>
            </a:r>
            <a:endParaRPr lang="en-US" sz="1200" dirty="0"/>
          </a:p>
        </p:txBody>
      </p:sp>
      <p:sp>
        <p:nvSpPr>
          <p:cNvPr id="7" name="Shape 5"/>
          <p:cNvSpPr/>
          <p:nvPr/>
        </p:nvSpPr>
        <p:spPr>
          <a:xfrm>
            <a:off x="7296912" y="1188720"/>
            <a:ext cx="3739896" cy="0"/>
          </a:xfrm>
          <a:prstGeom prst="line">
            <a:avLst/>
          </a:prstGeom>
          <a:noFill/>
          <a:ln w="12700">
            <a:solidFill>
              <a:srgbClr val="13C99B"/>
            </a:solidFill>
            <a:prstDash val="solid"/>
          </a:ln>
        </p:spPr>
      </p:sp>
      <p:sp>
        <p:nvSpPr>
          <p:cNvPr id="8" name="Text 6"/>
          <p:cNvSpPr/>
          <p:nvPr/>
        </p:nvSpPr>
        <p:spPr>
          <a:xfrm>
            <a:off x="7296912" y="1325880"/>
            <a:ext cx="3739896" cy="338328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Problem Statement 5 asks for forecasting, source attribution, enforcement intelligence and citizen health risk advisories for Indian smart cities. AirView AI converts multiple public data sources into one operational command centre.</a:t>
            </a:r>
            <a:endParaRPr lang="en-US" sz="870" dirty="0"/>
          </a:p>
        </p:txBody>
      </p:sp>
      <p:sp>
        <p:nvSpPr>
          <p:cNvPr id="9" name="Text 7"/>
          <p:cNvSpPr/>
          <p:nvPr/>
        </p:nvSpPr>
        <p:spPr>
          <a:xfrm>
            <a:off x="713232" y="2971800"/>
            <a:ext cx="2011680" cy="310896"/>
          </a:xfrm>
          <a:prstGeom prst="roundRect">
            <a:avLst>
              <a:gd name="adj" fmla="val 23529"/>
            </a:avLst>
          </a:prstGeom>
          <a:solidFill>
            <a:srgbClr val="0B1C18"/>
          </a:solidFill>
          <a:ln>
            <a:solidFill>
              <a:srgbClr val="13C99B"/>
            </a:solidFill>
          </a:ln>
        </p:spPr>
        <p:txBody>
          <a:bodyPr wrap="square" lIns="762" tIns="762" rIns="762" bIns="762" rtlCol="0" anchor="ctr"/>
          <a:lstStyle/>
          <a:p>
            <a:pPr algn="ctr" indent="0" marL="0">
              <a:buNone/>
            </a:pPr>
            <a:r>
              <a:rPr lang="en-US" sz="850" b="1" dirty="0">
                <a:solidFill>
                  <a:srgbClr val="13C99B"/>
                </a:solidFill>
              </a:rPr>
              <a:t>Five validated cities</a:t>
            </a:r>
            <a:endParaRPr lang="en-US" sz="850" dirty="0"/>
          </a:p>
        </p:txBody>
      </p:sp>
      <p:sp>
        <p:nvSpPr>
          <p:cNvPr id="10" name="Text 8"/>
          <p:cNvSpPr/>
          <p:nvPr/>
        </p:nvSpPr>
        <p:spPr>
          <a:xfrm>
            <a:off x="2880360" y="2971800"/>
            <a:ext cx="1965960" cy="310896"/>
          </a:xfrm>
          <a:prstGeom prst="roundRect">
            <a:avLst>
              <a:gd name="adj" fmla="val 23529"/>
            </a:avLst>
          </a:prstGeom>
          <a:solidFill>
            <a:srgbClr val="0B1C18"/>
          </a:solidFill>
          <a:ln>
            <a:solidFill>
              <a:srgbClr val="13C99B"/>
            </a:solidFill>
          </a:ln>
        </p:spPr>
        <p:txBody>
          <a:bodyPr wrap="square" lIns="762" tIns="762" rIns="762" bIns="762" rtlCol="0" anchor="ctr"/>
          <a:lstStyle/>
          <a:p>
            <a:pPr algn="ctr" indent="0" marL="0">
              <a:buNone/>
            </a:pPr>
            <a:r>
              <a:rPr lang="en-US" sz="850" b="1" dirty="0">
                <a:solidFill>
                  <a:srgbClr val="13C99B"/>
                </a:solidFill>
              </a:rPr>
              <a:t>24-72h forecasting</a:t>
            </a:r>
            <a:endParaRPr lang="en-US" sz="850" dirty="0"/>
          </a:p>
        </p:txBody>
      </p:sp>
      <p:sp>
        <p:nvSpPr>
          <p:cNvPr id="11" name="Text 9"/>
          <p:cNvSpPr/>
          <p:nvPr/>
        </p:nvSpPr>
        <p:spPr>
          <a:xfrm>
            <a:off x="5047488" y="2971800"/>
            <a:ext cx="1920240" cy="310896"/>
          </a:xfrm>
          <a:prstGeom prst="roundRect">
            <a:avLst>
              <a:gd name="adj" fmla="val 23529"/>
            </a:avLst>
          </a:prstGeom>
          <a:solidFill>
            <a:srgbClr val="0B1C18"/>
          </a:solidFill>
          <a:ln>
            <a:solidFill>
              <a:srgbClr val="13C99B"/>
            </a:solidFill>
          </a:ln>
        </p:spPr>
        <p:txBody>
          <a:bodyPr wrap="square" lIns="762" tIns="762" rIns="762" bIns="762" rtlCol="0" anchor="ctr"/>
          <a:lstStyle/>
          <a:p>
            <a:pPr algn="ctr" indent="0" marL="0">
              <a:buNone/>
            </a:pPr>
            <a:r>
              <a:rPr lang="en-US" sz="850" b="1" dirty="0">
                <a:solidFill>
                  <a:srgbClr val="13C99B"/>
                </a:solidFill>
              </a:rPr>
              <a:t>Map-based action queue</a:t>
            </a:r>
            <a:endParaRPr lang="en-US" sz="850" dirty="0"/>
          </a:p>
        </p:txBody>
      </p:sp>
      <p:sp>
        <p:nvSpPr>
          <p:cNvPr id="12" name="Text 10"/>
          <p:cNvSpPr/>
          <p:nvPr/>
        </p:nvSpPr>
        <p:spPr>
          <a:xfrm>
            <a:off x="713232" y="4919472"/>
            <a:ext cx="9875520" cy="320040"/>
          </a:xfrm>
          <a:prstGeom prst="rect">
            <a:avLst/>
          </a:prstGeom>
          <a:noFill/>
          <a:ln/>
        </p:spPr>
        <p:txBody>
          <a:bodyPr wrap="square" lIns="0" tIns="0" rIns="0" bIns="0" rtlCol="0" anchor="ctr"/>
          <a:lstStyle/>
          <a:p>
            <a:pPr indent="0" marL="0">
              <a:buNone/>
            </a:pPr>
            <a:r>
              <a:rPr lang="en-US" sz="1000" dirty="0">
                <a:solidFill>
                  <a:srgbClr val="FFB86B"/>
                </a:solidFill>
              </a:rPr>
              <a:t>Demo mode: live feeds when available, replay fallback when providers are unreachable.</a:t>
            </a:r>
            <a:endParaRPr lang="en-US" sz="1000" dirty="0"/>
          </a:p>
        </p:txBody>
      </p:sp>
      <p:sp>
        <p:nvSpPr>
          <p:cNvPr id="13" name="Text 11"/>
          <p:cNvSpPr/>
          <p:nvPr/>
        </p:nvSpPr>
        <p:spPr>
          <a:xfrm>
            <a:off x="502920" y="6510528"/>
            <a:ext cx="4572000" cy="164592"/>
          </a:xfrm>
          <a:prstGeom prst="rect">
            <a:avLst/>
          </a:prstGeom>
          <a:noFill/>
          <a:ln/>
        </p:spPr>
        <p:txBody>
          <a:bodyPr wrap="square" lIns="0" tIns="0" rIns="0" bIns="0" rtlCol="0" anchor="ctr"/>
          <a:lstStyle/>
          <a:p>
            <a:pPr indent="0" marL="0">
              <a:buNone/>
            </a:pPr>
            <a:r>
              <a:rPr lang="en-US" sz="700" dirty="0">
                <a:solidFill>
                  <a:srgbClr val="B6C8C1"/>
                </a:solidFill>
              </a:rPr>
              <a:t>AirView AI | ET AI Hackathon 2.0 | PS5</a:t>
            </a:r>
            <a:endParaRPr lang="en-US" sz="700" dirty="0"/>
          </a:p>
        </p:txBody>
      </p:sp>
      <p:sp>
        <p:nvSpPr>
          <p:cNvPr id="14" name="Text 12"/>
          <p:cNvSpPr/>
          <p:nvPr/>
        </p:nvSpPr>
        <p:spPr>
          <a:xfrm>
            <a:off x="11247120" y="6473952"/>
            <a:ext cx="411480" cy="182880"/>
          </a:xfrm>
          <a:prstGeom prst="rect">
            <a:avLst/>
          </a:prstGeom>
          <a:noFill/>
          <a:ln/>
        </p:spPr>
        <p:txBody>
          <a:bodyPr wrap="square" lIns="0" tIns="0" rIns="0" bIns="0" rtlCol="0" anchor="ctr"/>
          <a:lstStyle/>
          <a:p>
            <a:pPr algn="r" indent="0" marL="0">
              <a:buNone/>
            </a:pPr>
            <a:r>
              <a:rPr lang="en-US" sz="800" dirty="0">
                <a:solidFill>
                  <a:srgbClr val="B6C8C1"/>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412"/>
        </a:solidFill>
      </p:bgPr>
    </p:bg>
    <p:spTree>
      <p:nvGrpSpPr>
        <p:cNvPr id="1" name=""/>
        <p:cNvGrpSpPr/>
        <p:nvPr/>
      </p:nvGrpSpPr>
      <p:grpSpPr>
        <a:xfrm>
          <a:off x="0" y="0"/>
          <a:ext cx="0" cy="0"/>
          <a:chOff x="0" y="0"/>
          <a:chExt cx="0" cy="0"/>
        </a:xfrm>
      </p:grpSpPr>
      <p:sp>
        <p:nvSpPr>
          <p:cNvPr id="2" name="Text 0"/>
          <p:cNvSpPr/>
          <p:nvPr/>
        </p:nvSpPr>
        <p:spPr>
          <a:xfrm>
            <a:off x="502920" y="320040"/>
            <a:ext cx="8961120" cy="438912"/>
          </a:xfrm>
          <a:prstGeom prst="rect">
            <a:avLst/>
          </a:prstGeom>
          <a:noFill/>
          <a:ln/>
        </p:spPr>
        <p:txBody>
          <a:bodyPr wrap="square" lIns="0" tIns="0" rIns="0" bIns="0" rtlCol="0" anchor="ctr"/>
          <a:lstStyle/>
          <a:p>
            <a:pPr indent="0" marL="0">
              <a:buNone/>
            </a:pPr>
            <a:r>
              <a:rPr lang="en-US" sz="2500" b="1" dirty="0">
                <a:solidFill>
                  <a:srgbClr val="F3FAF7"/>
                </a:solidFill>
                <a:latin typeface="Aptos Display" pitchFamily="34" charset="0"/>
                <a:ea typeface="Aptos Display" pitchFamily="34" charset="-122"/>
                <a:cs typeface="Aptos Display" pitchFamily="34" charset="-120"/>
              </a:rPr>
              <a:t>Why this matters</a:t>
            </a:r>
            <a:endParaRPr lang="en-US" sz="2500" dirty="0"/>
          </a:p>
        </p:txBody>
      </p:sp>
      <p:sp>
        <p:nvSpPr>
          <p:cNvPr id="3" name="Text 1"/>
          <p:cNvSpPr/>
          <p:nvPr/>
        </p:nvSpPr>
        <p:spPr>
          <a:xfrm>
            <a:off x="530352" y="786384"/>
            <a:ext cx="9875520" cy="256032"/>
          </a:xfrm>
          <a:prstGeom prst="rect">
            <a:avLst/>
          </a:prstGeom>
          <a:noFill/>
          <a:ln/>
        </p:spPr>
        <p:txBody>
          <a:bodyPr wrap="square" lIns="0" tIns="0" rIns="0" bIns="0" rtlCol="0" anchor="ctr"/>
          <a:lstStyle/>
          <a:p>
            <a:pPr indent="0" marL="0">
              <a:buNone/>
            </a:pPr>
            <a:r>
              <a:rPr lang="en-US" sz="850" dirty="0">
                <a:solidFill>
                  <a:srgbClr val="13C99B"/>
                </a:solidFill>
              </a:rPr>
              <a:t>DATA EXISTS; INTERVENTION INTELLIGENCE DOES NOT</a:t>
            </a:r>
            <a:endParaRPr lang="en-US" sz="850" dirty="0"/>
          </a:p>
        </p:txBody>
      </p:sp>
      <p:sp>
        <p:nvSpPr>
          <p:cNvPr id="4" name="Shape 2"/>
          <p:cNvSpPr/>
          <p:nvPr/>
        </p:nvSpPr>
        <p:spPr>
          <a:xfrm>
            <a:off x="502920" y="1069848"/>
            <a:ext cx="11155680" cy="0"/>
          </a:xfrm>
          <a:prstGeom prst="line">
            <a:avLst/>
          </a:prstGeom>
          <a:noFill/>
          <a:ln w="12700">
            <a:solidFill>
              <a:srgbClr val="225347"/>
            </a:solidFill>
            <a:prstDash val="solid"/>
          </a:ln>
        </p:spPr>
      </p:sp>
      <p:sp>
        <p:nvSpPr>
          <p:cNvPr id="5" name="Shape 3"/>
          <p:cNvSpPr/>
          <p:nvPr/>
        </p:nvSpPr>
        <p:spPr>
          <a:xfrm>
            <a:off x="640080" y="1417320"/>
            <a:ext cx="3246120" cy="3566160"/>
          </a:xfrm>
          <a:prstGeom prst="roundRect">
            <a:avLst>
              <a:gd name="adj" fmla="val 2254"/>
            </a:avLst>
          </a:prstGeom>
          <a:solidFill>
            <a:srgbClr val="0D241E"/>
          </a:solidFill>
          <a:ln w="12700">
            <a:solidFill>
              <a:srgbClr val="225347"/>
            </a:solidFill>
            <a:prstDash val="solid"/>
          </a:ln>
        </p:spPr>
      </p:sp>
      <p:sp>
        <p:nvSpPr>
          <p:cNvPr id="6" name="Text 4"/>
          <p:cNvSpPr/>
          <p:nvPr/>
        </p:nvSpPr>
        <p:spPr>
          <a:xfrm>
            <a:off x="804672" y="1554480"/>
            <a:ext cx="2916936" cy="274320"/>
          </a:xfrm>
          <a:prstGeom prst="rect">
            <a:avLst/>
          </a:prstGeom>
          <a:noFill/>
          <a:ln/>
        </p:spPr>
        <p:txBody>
          <a:bodyPr wrap="square" lIns="0" tIns="0" rIns="0" bIns="0" rtlCol="0" anchor="ctr"/>
          <a:lstStyle/>
          <a:p>
            <a:pPr indent="0" marL="0">
              <a:buNone/>
            </a:pPr>
            <a:r>
              <a:rPr lang="en-US" sz="1200" b="1" dirty="0">
                <a:solidFill>
                  <a:srgbClr val="F3FAF7"/>
                </a:solidFill>
              </a:rPr>
              <a:t>Monitoring is not enough</a:t>
            </a:r>
            <a:endParaRPr lang="en-US" sz="1200" dirty="0"/>
          </a:p>
        </p:txBody>
      </p:sp>
      <p:sp>
        <p:nvSpPr>
          <p:cNvPr id="7" name="Shape 5"/>
          <p:cNvSpPr/>
          <p:nvPr/>
        </p:nvSpPr>
        <p:spPr>
          <a:xfrm>
            <a:off x="804672" y="1892808"/>
            <a:ext cx="2916936" cy="0"/>
          </a:xfrm>
          <a:prstGeom prst="line">
            <a:avLst/>
          </a:prstGeom>
          <a:noFill/>
          <a:ln w="12700">
            <a:solidFill>
              <a:srgbClr val="FFB86B"/>
            </a:solidFill>
            <a:prstDash val="solid"/>
          </a:ln>
        </p:spPr>
      </p:sp>
      <p:sp>
        <p:nvSpPr>
          <p:cNvPr id="8" name="Text 6"/>
          <p:cNvSpPr/>
          <p:nvPr/>
        </p:nvSpPr>
        <p:spPr>
          <a:xfrm>
            <a:off x="804672" y="2029968"/>
            <a:ext cx="2916936" cy="278892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CAAQMS readings show pollution after it happens. Administrators still need source context, forecast lead time and actionable inspection queues.</a:t>
            </a:r>
            <a:endParaRPr lang="en-US" sz="870" dirty="0"/>
          </a:p>
        </p:txBody>
      </p:sp>
      <p:sp>
        <p:nvSpPr>
          <p:cNvPr id="9" name="Shape 7"/>
          <p:cNvSpPr/>
          <p:nvPr/>
        </p:nvSpPr>
        <p:spPr>
          <a:xfrm>
            <a:off x="4343400" y="1417320"/>
            <a:ext cx="3246120" cy="3566160"/>
          </a:xfrm>
          <a:prstGeom prst="roundRect">
            <a:avLst>
              <a:gd name="adj" fmla="val 2254"/>
            </a:avLst>
          </a:prstGeom>
          <a:solidFill>
            <a:srgbClr val="0D241E"/>
          </a:solidFill>
          <a:ln w="12700">
            <a:solidFill>
              <a:srgbClr val="225347"/>
            </a:solidFill>
            <a:prstDash val="solid"/>
          </a:ln>
        </p:spPr>
      </p:sp>
      <p:sp>
        <p:nvSpPr>
          <p:cNvPr id="10" name="Text 8"/>
          <p:cNvSpPr/>
          <p:nvPr/>
        </p:nvSpPr>
        <p:spPr>
          <a:xfrm>
            <a:off x="4507992" y="1554480"/>
            <a:ext cx="2916936" cy="274320"/>
          </a:xfrm>
          <a:prstGeom prst="rect">
            <a:avLst/>
          </a:prstGeom>
          <a:noFill/>
          <a:ln/>
        </p:spPr>
        <p:txBody>
          <a:bodyPr wrap="square" lIns="0" tIns="0" rIns="0" bIns="0" rtlCol="0" anchor="ctr"/>
          <a:lstStyle/>
          <a:p>
            <a:pPr indent="0" marL="0">
              <a:buNone/>
            </a:pPr>
            <a:r>
              <a:rPr lang="en-US" sz="1200" b="1" dirty="0">
                <a:solidFill>
                  <a:srgbClr val="F3FAF7"/>
                </a:solidFill>
              </a:rPr>
              <a:t>PS5 target</a:t>
            </a:r>
            <a:endParaRPr lang="en-US" sz="1200" dirty="0"/>
          </a:p>
        </p:txBody>
      </p:sp>
      <p:sp>
        <p:nvSpPr>
          <p:cNvPr id="11" name="Shape 9"/>
          <p:cNvSpPr/>
          <p:nvPr/>
        </p:nvSpPr>
        <p:spPr>
          <a:xfrm>
            <a:off x="4507992" y="1892808"/>
            <a:ext cx="2916936" cy="0"/>
          </a:xfrm>
          <a:prstGeom prst="line">
            <a:avLst/>
          </a:prstGeom>
          <a:noFill/>
          <a:ln w="12700">
            <a:solidFill>
              <a:srgbClr val="13C99B"/>
            </a:solidFill>
            <a:prstDash val="solid"/>
          </a:ln>
        </p:spPr>
      </p:sp>
      <p:sp>
        <p:nvSpPr>
          <p:cNvPr id="12" name="Text 10"/>
          <p:cNvSpPr/>
          <p:nvPr/>
        </p:nvSpPr>
        <p:spPr>
          <a:xfrm>
            <a:off x="4507992" y="2029968"/>
            <a:ext cx="2916936" cy="278892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Fuse monitoring, satellite, mobility/land-use, weather and geospatial layers to shift from reactive dashboards to proactive source intervention.</a:t>
            </a:r>
            <a:endParaRPr lang="en-US" sz="870" dirty="0"/>
          </a:p>
        </p:txBody>
      </p:sp>
      <p:sp>
        <p:nvSpPr>
          <p:cNvPr id="13" name="Shape 11"/>
          <p:cNvSpPr/>
          <p:nvPr/>
        </p:nvSpPr>
        <p:spPr>
          <a:xfrm>
            <a:off x="8046720" y="1417320"/>
            <a:ext cx="3246120" cy="3566160"/>
          </a:xfrm>
          <a:prstGeom prst="roundRect">
            <a:avLst>
              <a:gd name="adj" fmla="val 2254"/>
            </a:avLst>
          </a:prstGeom>
          <a:solidFill>
            <a:srgbClr val="0D241E"/>
          </a:solidFill>
          <a:ln w="12700">
            <a:solidFill>
              <a:srgbClr val="225347"/>
            </a:solidFill>
            <a:prstDash val="solid"/>
          </a:ln>
        </p:spPr>
      </p:sp>
      <p:sp>
        <p:nvSpPr>
          <p:cNvPr id="14" name="Text 12"/>
          <p:cNvSpPr/>
          <p:nvPr/>
        </p:nvSpPr>
        <p:spPr>
          <a:xfrm>
            <a:off x="8211312" y="1554480"/>
            <a:ext cx="2916936" cy="274320"/>
          </a:xfrm>
          <a:prstGeom prst="rect">
            <a:avLst/>
          </a:prstGeom>
          <a:noFill/>
          <a:ln/>
        </p:spPr>
        <p:txBody>
          <a:bodyPr wrap="square" lIns="0" tIns="0" rIns="0" bIns="0" rtlCol="0" anchor="ctr"/>
          <a:lstStyle/>
          <a:p>
            <a:pPr indent="0" marL="0">
              <a:buNone/>
            </a:pPr>
            <a:r>
              <a:rPr lang="en-US" sz="1200" b="1" dirty="0">
                <a:solidFill>
                  <a:srgbClr val="F3FAF7"/>
                </a:solidFill>
              </a:rPr>
              <a:t>AirView AI answer</a:t>
            </a:r>
            <a:endParaRPr lang="en-US" sz="1200" dirty="0"/>
          </a:p>
        </p:txBody>
      </p:sp>
      <p:sp>
        <p:nvSpPr>
          <p:cNvPr id="15" name="Shape 13"/>
          <p:cNvSpPr/>
          <p:nvPr/>
        </p:nvSpPr>
        <p:spPr>
          <a:xfrm>
            <a:off x="8211312" y="1892808"/>
            <a:ext cx="2916936" cy="0"/>
          </a:xfrm>
          <a:prstGeom prst="line">
            <a:avLst/>
          </a:prstGeom>
          <a:noFill/>
          <a:ln w="12700">
            <a:solidFill>
              <a:srgbClr val="F2C94C"/>
            </a:solidFill>
            <a:prstDash val="solid"/>
          </a:ln>
        </p:spPr>
      </p:sp>
      <p:sp>
        <p:nvSpPr>
          <p:cNvPr id="16" name="Text 14"/>
          <p:cNvSpPr/>
          <p:nvPr/>
        </p:nvSpPr>
        <p:spPr>
          <a:xfrm>
            <a:off x="8211312" y="2029968"/>
            <a:ext cx="2916936" cy="278892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A city command centre that forecasts the next 24-72 hours, ranks source-influence evidence and recommends inspection/advisory actions.</a:t>
            </a:r>
            <a:endParaRPr lang="en-US" sz="870" dirty="0"/>
          </a:p>
        </p:txBody>
      </p:sp>
      <p:sp>
        <p:nvSpPr>
          <p:cNvPr id="17" name="Text 15"/>
          <p:cNvSpPr/>
          <p:nvPr/>
        </p:nvSpPr>
        <p:spPr>
          <a:xfrm>
            <a:off x="502920" y="6510528"/>
            <a:ext cx="4572000" cy="164592"/>
          </a:xfrm>
          <a:prstGeom prst="rect">
            <a:avLst/>
          </a:prstGeom>
          <a:noFill/>
          <a:ln/>
        </p:spPr>
        <p:txBody>
          <a:bodyPr wrap="square" lIns="0" tIns="0" rIns="0" bIns="0" rtlCol="0" anchor="ctr"/>
          <a:lstStyle/>
          <a:p>
            <a:pPr indent="0" marL="0">
              <a:buNone/>
            </a:pPr>
            <a:r>
              <a:rPr lang="en-US" sz="700" dirty="0">
                <a:solidFill>
                  <a:srgbClr val="B6C8C1"/>
                </a:solidFill>
              </a:rPr>
              <a:t>AirView AI | ET AI Hackathon 2.0 | PS5</a:t>
            </a:r>
            <a:endParaRPr lang="en-US" sz="700" dirty="0"/>
          </a:p>
        </p:txBody>
      </p:sp>
      <p:sp>
        <p:nvSpPr>
          <p:cNvPr id="18" name="Text 16"/>
          <p:cNvSpPr/>
          <p:nvPr/>
        </p:nvSpPr>
        <p:spPr>
          <a:xfrm>
            <a:off x="11247120" y="6473952"/>
            <a:ext cx="411480" cy="182880"/>
          </a:xfrm>
          <a:prstGeom prst="rect">
            <a:avLst/>
          </a:prstGeom>
          <a:noFill/>
          <a:ln/>
        </p:spPr>
        <p:txBody>
          <a:bodyPr wrap="square" lIns="0" tIns="0" rIns="0" bIns="0" rtlCol="0" anchor="ctr"/>
          <a:lstStyle/>
          <a:p>
            <a:pPr algn="r" indent="0" marL="0">
              <a:buNone/>
            </a:pPr>
            <a:r>
              <a:rPr lang="en-US" sz="800" dirty="0">
                <a:solidFill>
                  <a:srgbClr val="B6C8C1"/>
                </a:solidFill>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412"/>
        </a:solidFill>
      </p:bgPr>
    </p:bg>
    <p:spTree>
      <p:nvGrpSpPr>
        <p:cNvPr id="1" name=""/>
        <p:cNvGrpSpPr/>
        <p:nvPr/>
      </p:nvGrpSpPr>
      <p:grpSpPr>
        <a:xfrm>
          <a:off x="0" y="0"/>
          <a:ext cx="0" cy="0"/>
          <a:chOff x="0" y="0"/>
          <a:chExt cx="0" cy="0"/>
        </a:xfrm>
      </p:grpSpPr>
      <p:sp>
        <p:nvSpPr>
          <p:cNvPr id="2" name="Text 0"/>
          <p:cNvSpPr/>
          <p:nvPr/>
        </p:nvSpPr>
        <p:spPr>
          <a:xfrm>
            <a:off x="502920" y="320040"/>
            <a:ext cx="8961120" cy="438912"/>
          </a:xfrm>
          <a:prstGeom prst="rect">
            <a:avLst/>
          </a:prstGeom>
          <a:noFill/>
          <a:ln/>
        </p:spPr>
        <p:txBody>
          <a:bodyPr wrap="square" lIns="0" tIns="0" rIns="0" bIns="0" rtlCol="0" anchor="ctr"/>
          <a:lstStyle/>
          <a:p>
            <a:pPr indent="0" marL="0">
              <a:buNone/>
            </a:pPr>
            <a:r>
              <a:rPr lang="en-US" sz="2500" b="1" dirty="0">
                <a:solidFill>
                  <a:srgbClr val="F3FAF7"/>
                </a:solidFill>
                <a:latin typeface="Aptos Display" pitchFamily="34" charset="0"/>
                <a:ea typeface="Aptos Display" pitchFamily="34" charset="-122"/>
                <a:cs typeface="Aptos Display" pitchFamily="34" charset="-120"/>
              </a:rPr>
              <a:t>System architecture</a:t>
            </a:r>
            <a:endParaRPr lang="en-US" sz="2500" dirty="0"/>
          </a:p>
        </p:txBody>
      </p:sp>
      <p:sp>
        <p:nvSpPr>
          <p:cNvPr id="3" name="Text 1"/>
          <p:cNvSpPr/>
          <p:nvPr/>
        </p:nvSpPr>
        <p:spPr>
          <a:xfrm>
            <a:off x="530352" y="786384"/>
            <a:ext cx="9875520" cy="256032"/>
          </a:xfrm>
          <a:prstGeom prst="rect">
            <a:avLst/>
          </a:prstGeom>
          <a:noFill/>
          <a:ln/>
        </p:spPr>
        <p:txBody>
          <a:bodyPr wrap="square" lIns="0" tIns="0" rIns="0" bIns="0" rtlCol="0" anchor="ctr"/>
          <a:lstStyle/>
          <a:p>
            <a:pPr indent="0" marL="0">
              <a:buNone/>
            </a:pPr>
            <a:r>
              <a:rPr lang="en-US" sz="850" dirty="0">
                <a:solidFill>
                  <a:srgbClr val="13C99B"/>
                </a:solidFill>
              </a:rPr>
              <a:t>SOURCE FUSION TO CITY DECISION ENDPOINT</a:t>
            </a:r>
            <a:endParaRPr lang="en-US" sz="850" dirty="0"/>
          </a:p>
        </p:txBody>
      </p:sp>
      <p:sp>
        <p:nvSpPr>
          <p:cNvPr id="4" name="Shape 2"/>
          <p:cNvSpPr/>
          <p:nvPr/>
        </p:nvSpPr>
        <p:spPr>
          <a:xfrm>
            <a:off x="502920" y="1069848"/>
            <a:ext cx="11155680" cy="0"/>
          </a:xfrm>
          <a:prstGeom prst="line">
            <a:avLst/>
          </a:prstGeom>
          <a:noFill/>
          <a:ln w="12700">
            <a:solidFill>
              <a:srgbClr val="225347"/>
            </a:solidFill>
            <a:prstDash val="solid"/>
          </a:ln>
        </p:spPr>
      </p:sp>
      <p:pic>
        <p:nvPicPr>
          <p:cNvPr id="5" name="Image 0" descr="/mnt/data/airview_final/docs/architecture/assets/airview-final-architecture.png">    </p:cNvPr>
          <p:cNvPicPr>
            <a:picLocks noChangeAspect="1"/>
          </p:cNvPicPr>
          <p:nvPr/>
        </p:nvPicPr>
        <p:blipFill>
          <a:blip r:embed="rId1"/>
          <a:stretch>
            <a:fillRect/>
          </a:stretch>
        </p:blipFill>
        <p:spPr>
          <a:xfrm>
            <a:off x="1275530" y="1325880"/>
            <a:ext cx="9519020" cy="2926080"/>
          </a:xfrm>
          <a:prstGeom prst="rect">
            <a:avLst/>
          </a:prstGeom>
        </p:spPr>
      </p:pic>
      <p:sp>
        <p:nvSpPr>
          <p:cNvPr id="6" name="Text 3"/>
          <p:cNvSpPr/>
          <p:nvPr/>
        </p:nvSpPr>
        <p:spPr>
          <a:xfrm>
            <a:off x="731520" y="4645152"/>
            <a:ext cx="10607040" cy="1051560"/>
          </a:xfrm>
          <a:prstGeom prst="rect">
            <a:avLst/>
          </a:prstGeom>
          <a:noFill/>
          <a:ln/>
        </p:spPr>
        <p:txBody>
          <a:bodyPr wrap="square" lIns="0" tIns="0" rIns="0" bIns="0" rtlCol="0" anchor="ctr">
            <a:normAutofit/>
          </a:bodyPr>
          <a:lstStyle/>
          <a:p>
            <a:pPr indent="0" marL="0">
              <a:buNone/>
            </a:pPr>
            <a:r>
              <a:rPr lang="en-US" sz="1000" dirty="0">
                <a:solidFill>
                  <a:srgbClr val="B6C8C1"/>
                </a:solidFill>
              </a:rPr>
              <a:t>• Public sources: OpenAQ/CAAQMS history and latest path, Open-Meteo AQ/weather forecasts, NASA FIRMS thermal anomalies, OpenStreetMap source proxies.
</a:t>
            </a:r>
            <a:pPr indent="0" marL="0">
              <a:buNone/>
            </a:pPr>
            <a:r>
              <a:rPr lang="en-US" sz="1000" dirty="0">
                <a:solidFill>
                  <a:srgbClr val="B6C8C1"/>
                </a:solidFill>
              </a:rPr>
              <a:t>• Operational engine fuses provider forecast, station bias correction, trained replay models, wind/stagnation cues and intervention grid scoring.
</a:t>
            </a:r>
            <a:pPr indent="0" marL="0">
              <a:buNone/>
            </a:pPr>
            <a:r>
              <a:rPr lang="en-US" sz="1000" dirty="0">
                <a:solidFill>
                  <a:srgbClr val="B6C8C1"/>
                </a:solidFill>
              </a:rPr>
              <a:t>• Frontend exposes only the polished decision workflow - no raw logs, dev panels or validation-only screens in the demo.
</a:t>
            </a:r>
            <a:endParaRPr lang="en-US" sz="1000" dirty="0"/>
          </a:p>
        </p:txBody>
      </p:sp>
      <p:sp>
        <p:nvSpPr>
          <p:cNvPr id="7" name="Text 4"/>
          <p:cNvSpPr/>
          <p:nvPr/>
        </p:nvSpPr>
        <p:spPr>
          <a:xfrm>
            <a:off x="502920" y="6510528"/>
            <a:ext cx="4572000" cy="164592"/>
          </a:xfrm>
          <a:prstGeom prst="rect">
            <a:avLst/>
          </a:prstGeom>
          <a:noFill/>
          <a:ln/>
        </p:spPr>
        <p:txBody>
          <a:bodyPr wrap="square" lIns="0" tIns="0" rIns="0" bIns="0" rtlCol="0" anchor="ctr"/>
          <a:lstStyle/>
          <a:p>
            <a:pPr indent="0" marL="0">
              <a:buNone/>
            </a:pPr>
            <a:r>
              <a:rPr lang="en-US" sz="700" dirty="0">
                <a:solidFill>
                  <a:srgbClr val="B6C8C1"/>
                </a:solidFill>
              </a:rPr>
              <a:t>AirView AI | ET AI Hackathon 2.0 | PS5</a:t>
            </a:r>
            <a:endParaRPr lang="en-US" sz="700" dirty="0"/>
          </a:p>
        </p:txBody>
      </p:sp>
      <p:sp>
        <p:nvSpPr>
          <p:cNvPr id="8" name="Text 5"/>
          <p:cNvSpPr/>
          <p:nvPr/>
        </p:nvSpPr>
        <p:spPr>
          <a:xfrm>
            <a:off x="11247120" y="6473952"/>
            <a:ext cx="411480" cy="182880"/>
          </a:xfrm>
          <a:prstGeom prst="rect">
            <a:avLst/>
          </a:prstGeom>
          <a:noFill/>
          <a:ln/>
        </p:spPr>
        <p:txBody>
          <a:bodyPr wrap="square" lIns="0" tIns="0" rIns="0" bIns="0" rtlCol="0" anchor="ctr"/>
          <a:lstStyle/>
          <a:p>
            <a:pPr algn="r" indent="0" marL="0">
              <a:buNone/>
            </a:pPr>
            <a:r>
              <a:rPr lang="en-US" sz="800" dirty="0">
                <a:solidFill>
                  <a:srgbClr val="B6C8C1"/>
                </a:solidFill>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412"/>
        </a:solidFill>
      </p:bgPr>
    </p:bg>
    <p:spTree>
      <p:nvGrpSpPr>
        <p:cNvPr id="1" name=""/>
        <p:cNvGrpSpPr/>
        <p:nvPr/>
      </p:nvGrpSpPr>
      <p:grpSpPr>
        <a:xfrm>
          <a:off x="0" y="0"/>
          <a:ext cx="0" cy="0"/>
          <a:chOff x="0" y="0"/>
          <a:chExt cx="0" cy="0"/>
        </a:xfrm>
      </p:grpSpPr>
      <p:sp>
        <p:nvSpPr>
          <p:cNvPr id="2" name="Text 0"/>
          <p:cNvSpPr/>
          <p:nvPr/>
        </p:nvSpPr>
        <p:spPr>
          <a:xfrm>
            <a:off x="502920" y="320040"/>
            <a:ext cx="8961120" cy="438912"/>
          </a:xfrm>
          <a:prstGeom prst="rect">
            <a:avLst/>
          </a:prstGeom>
          <a:noFill/>
          <a:ln/>
        </p:spPr>
        <p:txBody>
          <a:bodyPr wrap="square" lIns="0" tIns="0" rIns="0" bIns="0" rtlCol="0" anchor="ctr"/>
          <a:lstStyle/>
          <a:p>
            <a:pPr indent="0" marL="0">
              <a:buNone/>
            </a:pPr>
            <a:r>
              <a:rPr lang="en-US" sz="2500" b="1" dirty="0">
                <a:solidFill>
                  <a:srgbClr val="F3FAF7"/>
                </a:solidFill>
                <a:latin typeface="Aptos Display" pitchFamily="34" charset="0"/>
                <a:ea typeface="Aptos Display" pitchFamily="34" charset="-122"/>
                <a:cs typeface="Aptos Display" pitchFamily="34" charset="-120"/>
              </a:rPr>
              <a:t>Evidence foundation</a:t>
            </a:r>
            <a:endParaRPr lang="en-US" sz="2500" dirty="0"/>
          </a:p>
        </p:txBody>
      </p:sp>
      <p:sp>
        <p:nvSpPr>
          <p:cNvPr id="3" name="Text 1"/>
          <p:cNvSpPr/>
          <p:nvPr/>
        </p:nvSpPr>
        <p:spPr>
          <a:xfrm>
            <a:off x="530352" y="786384"/>
            <a:ext cx="9875520" cy="256032"/>
          </a:xfrm>
          <a:prstGeom prst="rect">
            <a:avLst/>
          </a:prstGeom>
          <a:noFill/>
          <a:ln/>
        </p:spPr>
        <p:txBody>
          <a:bodyPr wrap="square" lIns="0" tIns="0" rIns="0" bIns="0" rtlCol="0" anchor="ctr"/>
          <a:lstStyle/>
          <a:p>
            <a:pPr indent="0" marL="0">
              <a:buNone/>
            </a:pPr>
            <a:r>
              <a:rPr lang="en-US" sz="850" dirty="0">
                <a:solidFill>
                  <a:srgbClr val="13C99B"/>
                </a:solidFill>
              </a:rPr>
              <a:t>REAL DATA WHERE AVAILABLE, HONEST FALLBACKS WHERE NOT</a:t>
            </a:r>
            <a:endParaRPr lang="en-US" sz="850" dirty="0"/>
          </a:p>
        </p:txBody>
      </p:sp>
      <p:sp>
        <p:nvSpPr>
          <p:cNvPr id="4" name="Shape 2"/>
          <p:cNvSpPr/>
          <p:nvPr/>
        </p:nvSpPr>
        <p:spPr>
          <a:xfrm>
            <a:off x="502920" y="1069848"/>
            <a:ext cx="11155680" cy="0"/>
          </a:xfrm>
          <a:prstGeom prst="line">
            <a:avLst/>
          </a:prstGeom>
          <a:noFill/>
          <a:ln w="12700">
            <a:solidFill>
              <a:srgbClr val="225347"/>
            </a:solidFill>
            <a:prstDash val="solid"/>
          </a:ln>
        </p:spPr>
      </p:sp>
      <p:sp>
        <p:nvSpPr>
          <p:cNvPr id="5" name="Shape 3"/>
          <p:cNvSpPr/>
          <p:nvPr/>
        </p:nvSpPr>
        <p:spPr>
          <a:xfrm>
            <a:off x="685800" y="1325880"/>
            <a:ext cx="2331720" cy="1234440"/>
          </a:xfrm>
          <a:prstGeom prst="roundRect">
            <a:avLst>
              <a:gd name="adj" fmla="val 5926"/>
            </a:avLst>
          </a:prstGeom>
          <a:solidFill>
            <a:srgbClr val="0D241E"/>
          </a:solidFill>
          <a:ln w="12700">
            <a:solidFill>
              <a:srgbClr val="225347"/>
            </a:solidFill>
            <a:prstDash val="solid"/>
          </a:ln>
        </p:spPr>
      </p:sp>
      <p:sp>
        <p:nvSpPr>
          <p:cNvPr id="6" name="Text 4"/>
          <p:cNvSpPr/>
          <p:nvPr/>
        </p:nvSpPr>
        <p:spPr>
          <a:xfrm>
            <a:off x="850392" y="1463040"/>
            <a:ext cx="2002536" cy="274320"/>
          </a:xfrm>
          <a:prstGeom prst="rect">
            <a:avLst/>
          </a:prstGeom>
          <a:noFill/>
          <a:ln/>
        </p:spPr>
        <p:txBody>
          <a:bodyPr wrap="square" lIns="0" tIns="0" rIns="0" bIns="0" rtlCol="0" anchor="ctr"/>
          <a:lstStyle/>
          <a:p>
            <a:pPr indent="0" marL="0">
              <a:buNone/>
            </a:pPr>
            <a:r>
              <a:rPr lang="en-US" sz="1200" b="1" dirty="0">
                <a:solidFill>
                  <a:srgbClr val="F3FAF7"/>
                </a:solidFill>
              </a:rPr>
              <a:t>866k</a:t>
            </a:r>
            <a:endParaRPr lang="en-US" sz="1200" dirty="0"/>
          </a:p>
        </p:txBody>
      </p:sp>
      <p:sp>
        <p:nvSpPr>
          <p:cNvPr id="7" name="Shape 5"/>
          <p:cNvSpPr/>
          <p:nvPr/>
        </p:nvSpPr>
        <p:spPr>
          <a:xfrm>
            <a:off x="850392" y="1801368"/>
            <a:ext cx="2002536" cy="0"/>
          </a:xfrm>
          <a:prstGeom prst="line">
            <a:avLst/>
          </a:prstGeom>
          <a:noFill/>
          <a:ln w="12700">
            <a:solidFill>
              <a:srgbClr val="13C99B"/>
            </a:solidFill>
            <a:prstDash val="solid"/>
          </a:ln>
        </p:spPr>
      </p:sp>
      <p:sp>
        <p:nvSpPr>
          <p:cNvPr id="8" name="Text 6"/>
          <p:cNvSpPr/>
          <p:nvPr/>
        </p:nvSpPr>
        <p:spPr>
          <a:xfrm>
            <a:off x="850392" y="1938528"/>
            <a:ext cx="2002536" cy="45720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OpenAQ historical observations</a:t>
            </a:r>
            <a:endParaRPr lang="en-US" sz="870" dirty="0"/>
          </a:p>
        </p:txBody>
      </p:sp>
      <p:sp>
        <p:nvSpPr>
          <p:cNvPr id="9" name="Shape 7"/>
          <p:cNvSpPr/>
          <p:nvPr/>
        </p:nvSpPr>
        <p:spPr>
          <a:xfrm>
            <a:off x="3474720" y="1325880"/>
            <a:ext cx="2331720" cy="1234440"/>
          </a:xfrm>
          <a:prstGeom prst="roundRect">
            <a:avLst>
              <a:gd name="adj" fmla="val 5926"/>
            </a:avLst>
          </a:prstGeom>
          <a:solidFill>
            <a:srgbClr val="0D241E"/>
          </a:solidFill>
          <a:ln w="12700">
            <a:solidFill>
              <a:srgbClr val="225347"/>
            </a:solidFill>
            <a:prstDash val="solid"/>
          </a:ln>
        </p:spPr>
      </p:sp>
      <p:sp>
        <p:nvSpPr>
          <p:cNvPr id="10" name="Text 8"/>
          <p:cNvSpPr/>
          <p:nvPr/>
        </p:nvSpPr>
        <p:spPr>
          <a:xfrm>
            <a:off x="3639312" y="1463040"/>
            <a:ext cx="2002536" cy="274320"/>
          </a:xfrm>
          <a:prstGeom prst="rect">
            <a:avLst/>
          </a:prstGeom>
          <a:noFill/>
          <a:ln/>
        </p:spPr>
        <p:txBody>
          <a:bodyPr wrap="square" lIns="0" tIns="0" rIns="0" bIns="0" rtlCol="0" anchor="ctr"/>
          <a:lstStyle/>
          <a:p>
            <a:pPr indent="0" marL="0">
              <a:buNone/>
            </a:pPr>
            <a:r>
              <a:rPr lang="en-US" sz="1200" b="1" dirty="0">
                <a:solidFill>
                  <a:srgbClr val="F3FAF7"/>
                </a:solidFill>
              </a:rPr>
              <a:t>40.8k</a:t>
            </a:r>
            <a:endParaRPr lang="en-US" sz="1200" dirty="0"/>
          </a:p>
        </p:txBody>
      </p:sp>
      <p:sp>
        <p:nvSpPr>
          <p:cNvPr id="11" name="Shape 9"/>
          <p:cNvSpPr/>
          <p:nvPr/>
        </p:nvSpPr>
        <p:spPr>
          <a:xfrm>
            <a:off x="3639312" y="1801368"/>
            <a:ext cx="2002536" cy="0"/>
          </a:xfrm>
          <a:prstGeom prst="line">
            <a:avLst/>
          </a:prstGeom>
          <a:noFill/>
          <a:ln w="12700">
            <a:solidFill>
              <a:srgbClr val="13C99B"/>
            </a:solidFill>
            <a:prstDash val="solid"/>
          </a:ln>
        </p:spPr>
      </p:sp>
      <p:sp>
        <p:nvSpPr>
          <p:cNvPr id="12" name="Text 10"/>
          <p:cNvSpPr/>
          <p:nvPr/>
        </p:nvSpPr>
        <p:spPr>
          <a:xfrm>
            <a:off x="3639312" y="1938528"/>
            <a:ext cx="2002536" cy="45720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station-hour feature rows</a:t>
            </a:r>
            <a:endParaRPr lang="en-US" sz="870" dirty="0"/>
          </a:p>
        </p:txBody>
      </p:sp>
      <p:sp>
        <p:nvSpPr>
          <p:cNvPr id="13" name="Shape 11"/>
          <p:cNvSpPr/>
          <p:nvPr/>
        </p:nvSpPr>
        <p:spPr>
          <a:xfrm>
            <a:off x="6263640" y="1325880"/>
            <a:ext cx="2331720" cy="1234440"/>
          </a:xfrm>
          <a:prstGeom prst="roundRect">
            <a:avLst>
              <a:gd name="adj" fmla="val 5926"/>
            </a:avLst>
          </a:prstGeom>
          <a:solidFill>
            <a:srgbClr val="0D241E"/>
          </a:solidFill>
          <a:ln w="12700">
            <a:solidFill>
              <a:srgbClr val="225347"/>
            </a:solidFill>
            <a:prstDash val="solid"/>
          </a:ln>
        </p:spPr>
      </p:sp>
      <p:sp>
        <p:nvSpPr>
          <p:cNvPr id="14" name="Text 12"/>
          <p:cNvSpPr/>
          <p:nvPr/>
        </p:nvSpPr>
        <p:spPr>
          <a:xfrm>
            <a:off x="6428232" y="1463040"/>
            <a:ext cx="2002536" cy="274320"/>
          </a:xfrm>
          <a:prstGeom prst="rect">
            <a:avLst/>
          </a:prstGeom>
          <a:noFill/>
          <a:ln/>
        </p:spPr>
        <p:txBody>
          <a:bodyPr wrap="square" lIns="0" tIns="0" rIns="0" bIns="0" rtlCol="0" anchor="ctr"/>
          <a:lstStyle/>
          <a:p>
            <a:pPr indent="0" marL="0">
              <a:buNone/>
            </a:pPr>
            <a:r>
              <a:rPr lang="en-US" sz="1200" b="1" dirty="0">
                <a:solidFill>
                  <a:srgbClr val="F3FAF7"/>
                </a:solidFill>
              </a:rPr>
              <a:t>1.11M</a:t>
            </a:r>
            <a:endParaRPr lang="en-US" sz="1200" dirty="0"/>
          </a:p>
        </p:txBody>
      </p:sp>
      <p:sp>
        <p:nvSpPr>
          <p:cNvPr id="15" name="Shape 13"/>
          <p:cNvSpPr/>
          <p:nvPr/>
        </p:nvSpPr>
        <p:spPr>
          <a:xfrm>
            <a:off x="6428232" y="1801368"/>
            <a:ext cx="2002536" cy="0"/>
          </a:xfrm>
          <a:prstGeom prst="line">
            <a:avLst/>
          </a:prstGeom>
          <a:noFill/>
          <a:ln w="12700">
            <a:solidFill>
              <a:srgbClr val="FFB86B"/>
            </a:solidFill>
            <a:prstDash val="solid"/>
          </a:ln>
        </p:spPr>
      </p:sp>
      <p:sp>
        <p:nvSpPr>
          <p:cNvPr id="16" name="Text 14"/>
          <p:cNvSpPr/>
          <p:nvPr/>
        </p:nvSpPr>
        <p:spPr>
          <a:xfrm>
            <a:off x="6428232" y="1938528"/>
            <a:ext cx="2002536" cy="45720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NASA FIRMS thermal-anomaly events</a:t>
            </a:r>
            <a:endParaRPr lang="en-US" sz="870" dirty="0"/>
          </a:p>
        </p:txBody>
      </p:sp>
      <p:sp>
        <p:nvSpPr>
          <p:cNvPr id="17" name="Shape 15"/>
          <p:cNvSpPr/>
          <p:nvPr/>
        </p:nvSpPr>
        <p:spPr>
          <a:xfrm>
            <a:off x="9052560" y="1325880"/>
            <a:ext cx="2331720" cy="1234440"/>
          </a:xfrm>
          <a:prstGeom prst="roundRect">
            <a:avLst>
              <a:gd name="adj" fmla="val 5926"/>
            </a:avLst>
          </a:prstGeom>
          <a:solidFill>
            <a:srgbClr val="0D241E"/>
          </a:solidFill>
          <a:ln w="12700">
            <a:solidFill>
              <a:srgbClr val="225347"/>
            </a:solidFill>
            <a:prstDash val="solid"/>
          </a:ln>
        </p:spPr>
      </p:sp>
      <p:sp>
        <p:nvSpPr>
          <p:cNvPr id="18" name="Text 16"/>
          <p:cNvSpPr/>
          <p:nvPr/>
        </p:nvSpPr>
        <p:spPr>
          <a:xfrm>
            <a:off x="9217152" y="1463040"/>
            <a:ext cx="2002536" cy="274320"/>
          </a:xfrm>
          <a:prstGeom prst="rect">
            <a:avLst/>
          </a:prstGeom>
          <a:noFill/>
          <a:ln/>
        </p:spPr>
        <p:txBody>
          <a:bodyPr wrap="square" lIns="0" tIns="0" rIns="0" bIns="0" rtlCol="0" anchor="ctr"/>
          <a:lstStyle/>
          <a:p>
            <a:pPr indent="0" marL="0">
              <a:buNone/>
            </a:pPr>
            <a:r>
              <a:rPr lang="en-US" sz="1200" b="1" dirty="0">
                <a:solidFill>
                  <a:srgbClr val="F3FAF7"/>
                </a:solidFill>
              </a:rPr>
              <a:t>5</a:t>
            </a:r>
            <a:endParaRPr lang="en-US" sz="1200" dirty="0"/>
          </a:p>
        </p:txBody>
      </p:sp>
      <p:sp>
        <p:nvSpPr>
          <p:cNvPr id="19" name="Shape 17"/>
          <p:cNvSpPr/>
          <p:nvPr/>
        </p:nvSpPr>
        <p:spPr>
          <a:xfrm>
            <a:off x="9217152" y="1801368"/>
            <a:ext cx="2002536" cy="0"/>
          </a:xfrm>
          <a:prstGeom prst="line">
            <a:avLst/>
          </a:prstGeom>
          <a:noFill/>
          <a:ln w="12700">
            <a:solidFill>
              <a:srgbClr val="13C99B"/>
            </a:solidFill>
            <a:prstDash val="solid"/>
          </a:ln>
        </p:spPr>
      </p:sp>
      <p:sp>
        <p:nvSpPr>
          <p:cNvPr id="20" name="Text 18"/>
          <p:cNvSpPr/>
          <p:nvPr/>
        </p:nvSpPr>
        <p:spPr>
          <a:xfrm>
            <a:off x="9217152" y="1938528"/>
            <a:ext cx="2002536" cy="45720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validated pilot cities</a:t>
            </a:r>
            <a:endParaRPr lang="en-US" sz="870" dirty="0"/>
          </a:p>
        </p:txBody>
      </p:sp>
      <p:pic>
        <p:nvPicPr>
          <p:cNvPr id="21" name="Image 0" descr="/mnt/data/airview_final/outputs/submission/assets/evidence_foundation.png">    </p:cNvPr>
          <p:cNvPicPr>
            <a:picLocks noChangeAspect="1"/>
          </p:cNvPicPr>
          <p:nvPr/>
        </p:nvPicPr>
        <p:blipFill>
          <a:blip r:embed="rId1"/>
          <a:stretch>
            <a:fillRect/>
          </a:stretch>
        </p:blipFill>
        <p:spPr>
          <a:xfrm>
            <a:off x="1108710" y="3017520"/>
            <a:ext cx="4732020" cy="2103120"/>
          </a:xfrm>
          <a:prstGeom prst="rect">
            <a:avLst/>
          </a:prstGeom>
        </p:spPr>
      </p:pic>
      <p:sp>
        <p:nvSpPr>
          <p:cNvPr id="22" name="Shape 19"/>
          <p:cNvSpPr/>
          <p:nvPr/>
        </p:nvSpPr>
        <p:spPr>
          <a:xfrm>
            <a:off x="6537960" y="2788920"/>
            <a:ext cx="4617720" cy="2514600"/>
          </a:xfrm>
          <a:prstGeom prst="roundRect">
            <a:avLst>
              <a:gd name="adj" fmla="val 2909"/>
            </a:avLst>
          </a:prstGeom>
          <a:solidFill>
            <a:srgbClr val="0D241E"/>
          </a:solidFill>
          <a:ln w="12700">
            <a:solidFill>
              <a:srgbClr val="225347"/>
            </a:solidFill>
            <a:prstDash val="solid"/>
          </a:ln>
        </p:spPr>
      </p:sp>
      <p:sp>
        <p:nvSpPr>
          <p:cNvPr id="23" name="Text 20"/>
          <p:cNvSpPr/>
          <p:nvPr/>
        </p:nvSpPr>
        <p:spPr>
          <a:xfrm>
            <a:off x="6702552" y="2926080"/>
            <a:ext cx="4288536" cy="274320"/>
          </a:xfrm>
          <a:prstGeom prst="rect">
            <a:avLst/>
          </a:prstGeom>
          <a:noFill/>
          <a:ln/>
        </p:spPr>
        <p:txBody>
          <a:bodyPr wrap="square" lIns="0" tIns="0" rIns="0" bIns="0" rtlCol="0" anchor="ctr"/>
          <a:lstStyle/>
          <a:p>
            <a:pPr indent="0" marL="0">
              <a:buNone/>
            </a:pPr>
            <a:r>
              <a:rPr lang="en-US" sz="1200" b="1" dirty="0">
                <a:solidFill>
                  <a:srgbClr val="F3FAF7"/>
                </a:solidFill>
              </a:rPr>
              <a:t>Source-status discipline</a:t>
            </a:r>
            <a:endParaRPr lang="en-US" sz="1200" dirty="0"/>
          </a:p>
        </p:txBody>
      </p:sp>
      <p:sp>
        <p:nvSpPr>
          <p:cNvPr id="24" name="Shape 21"/>
          <p:cNvSpPr/>
          <p:nvPr/>
        </p:nvSpPr>
        <p:spPr>
          <a:xfrm>
            <a:off x="6702552" y="3264408"/>
            <a:ext cx="4288536" cy="0"/>
          </a:xfrm>
          <a:prstGeom prst="line">
            <a:avLst/>
          </a:prstGeom>
          <a:noFill/>
          <a:ln w="12700">
            <a:solidFill>
              <a:srgbClr val="F2C94C"/>
            </a:solidFill>
            <a:prstDash val="solid"/>
          </a:ln>
        </p:spPr>
      </p:sp>
      <p:sp>
        <p:nvSpPr>
          <p:cNvPr id="25" name="Text 22"/>
          <p:cNvSpPr/>
          <p:nvPr/>
        </p:nvSpPr>
        <p:spPr>
          <a:xfrm>
            <a:off x="6702552" y="3401568"/>
            <a:ext cx="4288536" cy="173736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Sentinel-5P returned zero valid pixels and GHSL was unavailable, so AirView AI does not fabricate satellite columns or population exposure. Agra and Amritsar OSM gaps are shown as missing evidence, not zeros.</a:t>
            </a:r>
            <a:endParaRPr lang="en-US" sz="870" dirty="0"/>
          </a:p>
        </p:txBody>
      </p:sp>
      <p:sp>
        <p:nvSpPr>
          <p:cNvPr id="26" name="Text 23"/>
          <p:cNvSpPr/>
          <p:nvPr/>
        </p:nvSpPr>
        <p:spPr>
          <a:xfrm>
            <a:off x="502920" y="6510528"/>
            <a:ext cx="4572000" cy="164592"/>
          </a:xfrm>
          <a:prstGeom prst="rect">
            <a:avLst/>
          </a:prstGeom>
          <a:noFill/>
          <a:ln/>
        </p:spPr>
        <p:txBody>
          <a:bodyPr wrap="square" lIns="0" tIns="0" rIns="0" bIns="0" rtlCol="0" anchor="ctr"/>
          <a:lstStyle/>
          <a:p>
            <a:pPr indent="0" marL="0">
              <a:buNone/>
            </a:pPr>
            <a:r>
              <a:rPr lang="en-US" sz="700" dirty="0">
                <a:solidFill>
                  <a:srgbClr val="B6C8C1"/>
                </a:solidFill>
              </a:rPr>
              <a:t>AirView AI | ET AI Hackathon 2.0 | PS5</a:t>
            </a:r>
            <a:endParaRPr lang="en-US" sz="700" dirty="0"/>
          </a:p>
        </p:txBody>
      </p:sp>
      <p:sp>
        <p:nvSpPr>
          <p:cNvPr id="27" name="Text 24"/>
          <p:cNvSpPr/>
          <p:nvPr/>
        </p:nvSpPr>
        <p:spPr>
          <a:xfrm>
            <a:off x="11247120" y="6473952"/>
            <a:ext cx="411480" cy="182880"/>
          </a:xfrm>
          <a:prstGeom prst="rect">
            <a:avLst/>
          </a:prstGeom>
          <a:noFill/>
          <a:ln/>
        </p:spPr>
        <p:txBody>
          <a:bodyPr wrap="square" lIns="0" tIns="0" rIns="0" bIns="0" rtlCol="0" anchor="ctr"/>
          <a:lstStyle/>
          <a:p>
            <a:pPr algn="r" indent="0" marL="0">
              <a:buNone/>
            </a:pPr>
            <a:r>
              <a:rPr lang="en-US" sz="800" dirty="0">
                <a:solidFill>
                  <a:srgbClr val="B6C8C1"/>
                </a:solidFill>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412"/>
        </a:solidFill>
      </p:bgPr>
    </p:bg>
    <p:spTree>
      <p:nvGrpSpPr>
        <p:cNvPr id="1" name=""/>
        <p:cNvGrpSpPr/>
        <p:nvPr/>
      </p:nvGrpSpPr>
      <p:grpSpPr>
        <a:xfrm>
          <a:off x="0" y="0"/>
          <a:ext cx="0" cy="0"/>
          <a:chOff x="0" y="0"/>
          <a:chExt cx="0" cy="0"/>
        </a:xfrm>
      </p:grpSpPr>
      <p:sp>
        <p:nvSpPr>
          <p:cNvPr id="2" name="Text 0"/>
          <p:cNvSpPr/>
          <p:nvPr/>
        </p:nvSpPr>
        <p:spPr>
          <a:xfrm>
            <a:off x="502920" y="320040"/>
            <a:ext cx="8961120" cy="438912"/>
          </a:xfrm>
          <a:prstGeom prst="rect">
            <a:avLst/>
          </a:prstGeom>
          <a:noFill/>
          <a:ln/>
        </p:spPr>
        <p:txBody>
          <a:bodyPr wrap="square" lIns="0" tIns="0" rIns="0" bIns="0" rtlCol="0" anchor="ctr"/>
          <a:lstStyle/>
          <a:p>
            <a:pPr indent="0" marL="0">
              <a:buNone/>
            </a:pPr>
            <a:r>
              <a:rPr lang="en-US" sz="2500" b="1" dirty="0">
                <a:solidFill>
                  <a:srgbClr val="F3FAF7"/>
                </a:solidFill>
                <a:latin typeface="Aptos Display" pitchFamily="34" charset="0"/>
                <a:ea typeface="Aptos Display" pitchFamily="34" charset="-122"/>
                <a:cs typeface="Aptos Display" pitchFamily="34" charset="-120"/>
              </a:rPr>
              <a:t>Forecasting intelligence</a:t>
            </a:r>
            <a:endParaRPr lang="en-US" sz="2500" dirty="0"/>
          </a:p>
        </p:txBody>
      </p:sp>
      <p:sp>
        <p:nvSpPr>
          <p:cNvPr id="3" name="Text 1"/>
          <p:cNvSpPr/>
          <p:nvPr/>
        </p:nvSpPr>
        <p:spPr>
          <a:xfrm>
            <a:off x="530352" y="786384"/>
            <a:ext cx="9875520" cy="256032"/>
          </a:xfrm>
          <a:prstGeom prst="rect">
            <a:avLst/>
          </a:prstGeom>
          <a:noFill/>
          <a:ln/>
        </p:spPr>
        <p:txBody>
          <a:bodyPr wrap="square" lIns="0" tIns="0" rIns="0" bIns="0" rtlCol="0" anchor="ctr"/>
          <a:lstStyle/>
          <a:p>
            <a:pPr indent="0" marL="0">
              <a:buNone/>
            </a:pPr>
            <a:r>
              <a:rPr lang="en-US" sz="850" dirty="0">
                <a:solidFill>
                  <a:srgbClr val="13C99B"/>
                </a:solidFill>
              </a:rPr>
              <a:t>LIVE PATH + REPLAY VALIDATION</a:t>
            </a:r>
            <a:endParaRPr lang="en-US" sz="850" dirty="0"/>
          </a:p>
        </p:txBody>
      </p:sp>
      <p:sp>
        <p:nvSpPr>
          <p:cNvPr id="4" name="Shape 2"/>
          <p:cNvSpPr/>
          <p:nvPr/>
        </p:nvSpPr>
        <p:spPr>
          <a:xfrm>
            <a:off x="502920" y="1069848"/>
            <a:ext cx="11155680" cy="0"/>
          </a:xfrm>
          <a:prstGeom prst="line">
            <a:avLst/>
          </a:prstGeom>
          <a:noFill/>
          <a:ln w="12700">
            <a:solidFill>
              <a:srgbClr val="225347"/>
            </a:solidFill>
            <a:prstDash val="solid"/>
          </a:ln>
        </p:spPr>
      </p:sp>
      <p:pic>
        <p:nvPicPr>
          <p:cNvPr id="5" name="Image 0" descr="/mnt/data/airview_final/outputs/submission/assets/delhi_replay_72h.png">    </p:cNvPr>
          <p:cNvPicPr>
            <a:picLocks noChangeAspect="1"/>
          </p:cNvPicPr>
          <p:nvPr/>
        </p:nvPicPr>
        <p:blipFill>
          <a:blip r:embed="rId1"/>
          <a:stretch>
            <a:fillRect/>
          </a:stretch>
        </p:blipFill>
        <p:spPr>
          <a:xfrm>
            <a:off x="685800" y="1707753"/>
            <a:ext cx="5669280" cy="2445799"/>
          </a:xfrm>
          <a:prstGeom prst="rect">
            <a:avLst/>
          </a:prstGeom>
        </p:spPr>
      </p:pic>
      <p:sp>
        <p:nvSpPr>
          <p:cNvPr id="6" name="Shape 3"/>
          <p:cNvSpPr/>
          <p:nvPr/>
        </p:nvSpPr>
        <p:spPr>
          <a:xfrm>
            <a:off x="6748272" y="1417320"/>
            <a:ext cx="4480560" cy="2834640"/>
          </a:xfrm>
          <a:prstGeom prst="roundRect">
            <a:avLst>
              <a:gd name="adj" fmla="val 2581"/>
            </a:avLst>
          </a:prstGeom>
          <a:solidFill>
            <a:srgbClr val="0D241E"/>
          </a:solidFill>
          <a:ln w="12700">
            <a:solidFill>
              <a:srgbClr val="225347"/>
            </a:solidFill>
            <a:prstDash val="solid"/>
          </a:ln>
        </p:spPr>
      </p:sp>
      <p:sp>
        <p:nvSpPr>
          <p:cNvPr id="7" name="Text 4"/>
          <p:cNvSpPr/>
          <p:nvPr/>
        </p:nvSpPr>
        <p:spPr>
          <a:xfrm>
            <a:off x="6912864" y="1554480"/>
            <a:ext cx="4151376" cy="274320"/>
          </a:xfrm>
          <a:prstGeom prst="rect">
            <a:avLst/>
          </a:prstGeom>
          <a:noFill/>
          <a:ln/>
        </p:spPr>
        <p:txBody>
          <a:bodyPr wrap="square" lIns="0" tIns="0" rIns="0" bIns="0" rtlCol="0" anchor="ctr"/>
          <a:lstStyle/>
          <a:p>
            <a:pPr indent="0" marL="0">
              <a:buNone/>
            </a:pPr>
            <a:r>
              <a:rPr lang="en-US" sz="1200" b="1" dirty="0">
                <a:solidFill>
                  <a:srgbClr val="F3FAF7"/>
                </a:solidFill>
              </a:rPr>
              <a:t>How prediction works</a:t>
            </a:r>
            <a:endParaRPr lang="en-US" sz="1200" dirty="0"/>
          </a:p>
        </p:txBody>
      </p:sp>
      <p:sp>
        <p:nvSpPr>
          <p:cNvPr id="8" name="Shape 5"/>
          <p:cNvSpPr/>
          <p:nvPr/>
        </p:nvSpPr>
        <p:spPr>
          <a:xfrm>
            <a:off x="6912864" y="1892808"/>
            <a:ext cx="4151376" cy="0"/>
          </a:xfrm>
          <a:prstGeom prst="line">
            <a:avLst/>
          </a:prstGeom>
          <a:noFill/>
          <a:ln w="12700">
            <a:solidFill>
              <a:srgbClr val="13C99B"/>
            </a:solidFill>
            <a:prstDash val="solid"/>
          </a:ln>
        </p:spPr>
      </p:sp>
      <p:sp>
        <p:nvSpPr>
          <p:cNvPr id="9" name="Text 6"/>
          <p:cNvSpPr/>
          <p:nvPr/>
        </p:nvSpPr>
        <p:spPr>
          <a:xfrm>
            <a:off x="6912864" y="2029968"/>
            <a:ext cx="4151376" cy="205740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Live mode attempts OpenAQ recent observations, Open-Meteo AQ and weather forecasts, then fuses station bias, CAMS baseline and trained replay corrections. If online providers fail, a validated replay with actual held-out observations loads automatically.</a:t>
            </a:r>
            <a:endParaRPr lang="en-US" sz="870" dirty="0"/>
          </a:p>
        </p:txBody>
      </p:sp>
      <p:sp>
        <p:nvSpPr>
          <p:cNvPr id="10" name="Text 7"/>
          <p:cNvSpPr/>
          <p:nvPr/>
        </p:nvSpPr>
        <p:spPr>
          <a:xfrm>
            <a:off x="6903720" y="4462272"/>
            <a:ext cx="3931920" cy="1051560"/>
          </a:xfrm>
          <a:prstGeom prst="rect">
            <a:avLst/>
          </a:prstGeom>
          <a:noFill/>
          <a:ln/>
        </p:spPr>
        <p:txBody>
          <a:bodyPr wrap="square" lIns="0" tIns="0" rIns="0" bIns="0" rtlCol="0" anchor="ctr">
            <a:normAutofit/>
          </a:bodyPr>
          <a:lstStyle/>
          <a:p>
            <a:pPr indent="0" marL="0">
              <a:buNone/>
            </a:pPr>
            <a:r>
              <a:rPr lang="en-US" sz="1000" dirty="0">
                <a:solidFill>
                  <a:srgbClr val="B6C8C1"/>
                </a:solidFill>
              </a:rPr>
              <a:t>• 24, 48 and 72 hour horizons
</a:t>
            </a:r>
            <a:pPr indent="0" marL="0">
              <a:buNone/>
            </a:pPr>
            <a:r>
              <a:rPr lang="en-US" sz="1000" dirty="0">
                <a:solidFill>
                  <a:srgbClr val="B6C8C1"/>
                </a:solidFill>
              </a:rPr>
              <a:t>• PM2.5 and PM10
</a:t>
            </a:r>
            <a:pPr indent="0" marL="0">
              <a:buNone/>
            </a:pPr>
            <a:r>
              <a:rPr lang="en-US" sz="1000" dirty="0">
                <a:solidFill>
                  <a:srgbClr val="B6C8C1"/>
                </a:solidFill>
              </a:rPr>
              <a:t>• Actual vs forecast vs persistence
</a:t>
            </a:r>
            <a:pPr indent="0" marL="0">
              <a:buNone/>
            </a:pPr>
            <a:r>
              <a:rPr lang="en-US" sz="1000" dirty="0">
                <a:solidFill>
                  <a:srgbClr val="B6C8C1"/>
                </a:solidFill>
              </a:rPr>
              <a:t>• Uncertainty interval and AQI-style severity
</a:t>
            </a:r>
            <a:endParaRPr lang="en-US" sz="1000" dirty="0"/>
          </a:p>
        </p:txBody>
      </p:sp>
      <p:sp>
        <p:nvSpPr>
          <p:cNvPr id="11" name="Text 8"/>
          <p:cNvSpPr/>
          <p:nvPr/>
        </p:nvSpPr>
        <p:spPr>
          <a:xfrm>
            <a:off x="502920" y="6510528"/>
            <a:ext cx="4572000" cy="164592"/>
          </a:xfrm>
          <a:prstGeom prst="rect">
            <a:avLst/>
          </a:prstGeom>
          <a:noFill/>
          <a:ln/>
        </p:spPr>
        <p:txBody>
          <a:bodyPr wrap="square" lIns="0" tIns="0" rIns="0" bIns="0" rtlCol="0" anchor="ctr"/>
          <a:lstStyle/>
          <a:p>
            <a:pPr indent="0" marL="0">
              <a:buNone/>
            </a:pPr>
            <a:r>
              <a:rPr lang="en-US" sz="700" dirty="0">
                <a:solidFill>
                  <a:srgbClr val="B6C8C1"/>
                </a:solidFill>
              </a:rPr>
              <a:t>AirView AI | ET AI Hackathon 2.0 | PS5</a:t>
            </a:r>
            <a:endParaRPr lang="en-US" sz="700" dirty="0"/>
          </a:p>
        </p:txBody>
      </p:sp>
      <p:sp>
        <p:nvSpPr>
          <p:cNvPr id="12" name="Text 9"/>
          <p:cNvSpPr/>
          <p:nvPr/>
        </p:nvSpPr>
        <p:spPr>
          <a:xfrm>
            <a:off x="11247120" y="6473952"/>
            <a:ext cx="411480" cy="182880"/>
          </a:xfrm>
          <a:prstGeom prst="rect">
            <a:avLst/>
          </a:prstGeom>
          <a:noFill/>
          <a:ln/>
        </p:spPr>
        <p:txBody>
          <a:bodyPr wrap="square" lIns="0" tIns="0" rIns="0" bIns="0" rtlCol="0" anchor="ctr"/>
          <a:lstStyle/>
          <a:p>
            <a:pPr algn="r" indent="0" marL="0">
              <a:buNone/>
            </a:pPr>
            <a:r>
              <a:rPr lang="en-US" sz="800" dirty="0">
                <a:solidFill>
                  <a:srgbClr val="B6C8C1"/>
                </a:solidFill>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412"/>
        </a:solidFill>
      </p:bgPr>
    </p:bg>
    <p:spTree>
      <p:nvGrpSpPr>
        <p:cNvPr id="1" name=""/>
        <p:cNvGrpSpPr/>
        <p:nvPr/>
      </p:nvGrpSpPr>
      <p:grpSpPr>
        <a:xfrm>
          <a:off x="0" y="0"/>
          <a:ext cx="0" cy="0"/>
          <a:chOff x="0" y="0"/>
          <a:chExt cx="0" cy="0"/>
        </a:xfrm>
      </p:grpSpPr>
      <p:sp>
        <p:nvSpPr>
          <p:cNvPr id="2" name="Text 0"/>
          <p:cNvSpPr/>
          <p:nvPr/>
        </p:nvSpPr>
        <p:spPr>
          <a:xfrm>
            <a:off x="502920" y="320040"/>
            <a:ext cx="8961120" cy="438912"/>
          </a:xfrm>
          <a:prstGeom prst="rect">
            <a:avLst/>
          </a:prstGeom>
          <a:noFill/>
          <a:ln/>
        </p:spPr>
        <p:txBody>
          <a:bodyPr wrap="square" lIns="0" tIns="0" rIns="0" bIns="0" rtlCol="0" anchor="ctr"/>
          <a:lstStyle/>
          <a:p>
            <a:pPr indent="0" marL="0">
              <a:buNone/>
            </a:pPr>
            <a:r>
              <a:rPr lang="en-US" sz="2500" b="1" dirty="0">
                <a:solidFill>
                  <a:srgbClr val="F3FAF7"/>
                </a:solidFill>
                <a:latin typeface="Aptos Display" pitchFamily="34" charset="0"/>
                <a:ea typeface="Aptos Display" pitchFamily="34" charset="-122"/>
                <a:cs typeface="Aptos Display" pitchFamily="34" charset="-120"/>
              </a:rPr>
              <a:t>Geospatial source intelligence</a:t>
            </a:r>
            <a:endParaRPr lang="en-US" sz="2500" dirty="0"/>
          </a:p>
        </p:txBody>
      </p:sp>
      <p:sp>
        <p:nvSpPr>
          <p:cNvPr id="3" name="Text 1"/>
          <p:cNvSpPr/>
          <p:nvPr/>
        </p:nvSpPr>
        <p:spPr>
          <a:xfrm>
            <a:off x="530352" y="786384"/>
            <a:ext cx="9875520" cy="256032"/>
          </a:xfrm>
          <a:prstGeom prst="rect">
            <a:avLst/>
          </a:prstGeom>
          <a:noFill/>
          <a:ln/>
        </p:spPr>
        <p:txBody>
          <a:bodyPr wrap="square" lIns="0" tIns="0" rIns="0" bIns="0" rtlCol="0" anchor="ctr"/>
          <a:lstStyle/>
          <a:p>
            <a:pPr indent="0" marL="0">
              <a:buNone/>
            </a:pPr>
            <a:r>
              <a:rPr lang="en-US" sz="850" dirty="0">
                <a:solidFill>
                  <a:srgbClr val="13C99B"/>
                </a:solidFill>
              </a:rPr>
              <a:t>SCREENING SIGNALS, NOT SOURCE APPORTIONMENT</a:t>
            </a:r>
            <a:endParaRPr lang="en-US" sz="850" dirty="0"/>
          </a:p>
        </p:txBody>
      </p:sp>
      <p:sp>
        <p:nvSpPr>
          <p:cNvPr id="4" name="Shape 2"/>
          <p:cNvSpPr/>
          <p:nvPr/>
        </p:nvSpPr>
        <p:spPr>
          <a:xfrm>
            <a:off x="502920" y="1069848"/>
            <a:ext cx="11155680" cy="0"/>
          </a:xfrm>
          <a:prstGeom prst="line">
            <a:avLst/>
          </a:prstGeom>
          <a:noFill/>
          <a:ln w="12700">
            <a:solidFill>
              <a:srgbClr val="225347"/>
            </a:solidFill>
            <a:prstDash val="solid"/>
          </a:ln>
        </p:spPr>
      </p:sp>
      <p:sp>
        <p:nvSpPr>
          <p:cNvPr id="5" name="Shape 3"/>
          <p:cNvSpPr/>
          <p:nvPr/>
        </p:nvSpPr>
        <p:spPr>
          <a:xfrm>
            <a:off x="685800" y="1325880"/>
            <a:ext cx="3108960" cy="4343400"/>
          </a:xfrm>
          <a:prstGeom prst="roundRect">
            <a:avLst>
              <a:gd name="adj" fmla="val 2353"/>
            </a:avLst>
          </a:prstGeom>
          <a:solidFill>
            <a:srgbClr val="0D241E"/>
          </a:solidFill>
          <a:ln w="12700">
            <a:solidFill>
              <a:srgbClr val="225347"/>
            </a:solidFill>
            <a:prstDash val="solid"/>
          </a:ln>
        </p:spPr>
      </p:sp>
      <p:sp>
        <p:nvSpPr>
          <p:cNvPr id="6" name="Text 4"/>
          <p:cNvSpPr/>
          <p:nvPr/>
        </p:nvSpPr>
        <p:spPr>
          <a:xfrm>
            <a:off x="850392" y="1463040"/>
            <a:ext cx="2779776" cy="274320"/>
          </a:xfrm>
          <a:prstGeom prst="rect">
            <a:avLst/>
          </a:prstGeom>
          <a:noFill/>
          <a:ln/>
        </p:spPr>
        <p:txBody>
          <a:bodyPr wrap="square" lIns="0" tIns="0" rIns="0" bIns="0" rtlCol="0" anchor="ctr"/>
          <a:lstStyle/>
          <a:p>
            <a:pPr indent="0" marL="0">
              <a:buNone/>
            </a:pPr>
            <a:r>
              <a:rPr lang="en-US" sz="1200" b="1" dirty="0">
                <a:solidFill>
                  <a:srgbClr val="F3FAF7"/>
                </a:solidFill>
              </a:rPr>
              <a:t>Source indicators</a:t>
            </a:r>
            <a:endParaRPr lang="en-US" sz="1200" dirty="0"/>
          </a:p>
        </p:txBody>
      </p:sp>
      <p:sp>
        <p:nvSpPr>
          <p:cNvPr id="7" name="Shape 5"/>
          <p:cNvSpPr/>
          <p:nvPr/>
        </p:nvSpPr>
        <p:spPr>
          <a:xfrm>
            <a:off x="850392" y="1801368"/>
            <a:ext cx="2779776" cy="0"/>
          </a:xfrm>
          <a:prstGeom prst="line">
            <a:avLst/>
          </a:prstGeom>
          <a:noFill/>
          <a:ln w="12700">
            <a:solidFill>
              <a:srgbClr val="13C99B"/>
            </a:solidFill>
            <a:prstDash val="solid"/>
          </a:ln>
        </p:spPr>
      </p:sp>
      <p:sp>
        <p:nvSpPr>
          <p:cNvPr id="8" name="Text 6"/>
          <p:cNvSpPr/>
          <p:nvPr/>
        </p:nvSpPr>
        <p:spPr>
          <a:xfrm>
            <a:off x="850392" y="1938528"/>
            <a:ext cx="2779776" cy="356616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Traffic and transport</a:t>
            </a:r>
            <a:endParaRPr lang="en-US" sz="870" dirty="0"/>
          </a:p>
          <a:p>
            <a:pPr indent="0" marL="0">
              <a:buNone/>
            </a:pPr>
            <a:r>
              <a:rPr lang="en-US" sz="870" dirty="0">
                <a:solidFill>
                  <a:srgbClr val="B6C8C1"/>
                </a:solidFill>
              </a:rPr>
              <a:t>Industrial activity</a:t>
            </a:r>
            <a:endParaRPr lang="en-US" sz="870" dirty="0"/>
          </a:p>
          <a:p>
            <a:pPr indent="0" marL="0">
              <a:buNone/>
            </a:pPr>
            <a:r>
              <a:rPr lang="en-US" sz="870" dirty="0">
                <a:solidFill>
                  <a:srgbClr val="B6C8C1"/>
                </a:solidFill>
              </a:rPr>
              <a:t>Construction and road dust</a:t>
            </a:r>
            <a:endParaRPr lang="en-US" sz="870" dirty="0"/>
          </a:p>
          <a:p>
            <a:pPr indent="0" marL="0">
              <a:buNone/>
            </a:pPr>
            <a:r>
              <a:rPr lang="en-US" sz="870" dirty="0">
                <a:solidFill>
                  <a:srgbClr val="B6C8C1"/>
                </a:solidFill>
              </a:rPr>
              <a:t>Regional thermal anomalies</a:t>
            </a:r>
            <a:endParaRPr lang="en-US" sz="870" dirty="0"/>
          </a:p>
          <a:p>
            <a:pPr indent="0" marL="0">
              <a:buNone/>
            </a:pPr>
            <a:r>
              <a:rPr lang="en-US" sz="870" dirty="0">
                <a:solidFill>
                  <a:srgbClr val="B6C8C1"/>
                </a:solidFill>
              </a:rPr>
              <a:t>Meteorological accumulation</a:t>
            </a:r>
            <a:endParaRPr lang="en-US" sz="870" dirty="0"/>
          </a:p>
          <a:p>
            <a:pPr indent="0" marL="0">
              <a:buNone/>
            </a:pPr>
            <a:r>
              <a:rPr lang="en-US" sz="870" dirty="0">
                <a:solidFill>
                  <a:srgbClr val="B6C8C1"/>
                </a:solidFill>
              </a:rPr>
              <a:t>Background / unresolved</a:t>
            </a:r>
            <a:endParaRPr lang="en-US" sz="870" dirty="0"/>
          </a:p>
        </p:txBody>
      </p:sp>
      <p:sp>
        <p:nvSpPr>
          <p:cNvPr id="9" name="Shape 7"/>
          <p:cNvSpPr/>
          <p:nvPr/>
        </p:nvSpPr>
        <p:spPr>
          <a:xfrm>
            <a:off x="4251960" y="1325880"/>
            <a:ext cx="3108960" cy="4343400"/>
          </a:xfrm>
          <a:prstGeom prst="roundRect">
            <a:avLst>
              <a:gd name="adj" fmla="val 2353"/>
            </a:avLst>
          </a:prstGeom>
          <a:solidFill>
            <a:srgbClr val="0D241E"/>
          </a:solidFill>
          <a:ln w="12700">
            <a:solidFill>
              <a:srgbClr val="225347"/>
            </a:solidFill>
            <a:prstDash val="solid"/>
          </a:ln>
        </p:spPr>
      </p:sp>
      <p:sp>
        <p:nvSpPr>
          <p:cNvPr id="10" name="Text 8"/>
          <p:cNvSpPr/>
          <p:nvPr/>
        </p:nvSpPr>
        <p:spPr>
          <a:xfrm>
            <a:off x="4416552" y="1463040"/>
            <a:ext cx="2779776" cy="274320"/>
          </a:xfrm>
          <a:prstGeom prst="rect">
            <a:avLst/>
          </a:prstGeom>
          <a:noFill/>
          <a:ln/>
        </p:spPr>
        <p:txBody>
          <a:bodyPr wrap="square" lIns="0" tIns="0" rIns="0" bIns="0" rtlCol="0" anchor="ctr"/>
          <a:lstStyle/>
          <a:p>
            <a:pPr indent="0" marL="0">
              <a:buNone/>
            </a:pPr>
            <a:r>
              <a:rPr lang="en-US" sz="1200" b="1" dirty="0">
                <a:solidFill>
                  <a:srgbClr val="F3FAF7"/>
                </a:solidFill>
              </a:rPr>
              <a:t>Atmospheric context</a:t>
            </a:r>
            <a:endParaRPr lang="en-US" sz="1200" dirty="0"/>
          </a:p>
        </p:txBody>
      </p:sp>
      <p:sp>
        <p:nvSpPr>
          <p:cNvPr id="11" name="Shape 9"/>
          <p:cNvSpPr/>
          <p:nvPr/>
        </p:nvSpPr>
        <p:spPr>
          <a:xfrm>
            <a:off x="4416552" y="1801368"/>
            <a:ext cx="2779776" cy="0"/>
          </a:xfrm>
          <a:prstGeom prst="line">
            <a:avLst/>
          </a:prstGeom>
          <a:noFill/>
          <a:ln w="12700">
            <a:solidFill>
              <a:srgbClr val="FFB86B"/>
            </a:solidFill>
            <a:prstDash val="solid"/>
          </a:ln>
        </p:spPr>
      </p:sp>
      <p:sp>
        <p:nvSpPr>
          <p:cNvPr id="12" name="Text 10"/>
          <p:cNvSpPr/>
          <p:nvPr/>
        </p:nvSpPr>
        <p:spPr>
          <a:xfrm>
            <a:off x="4416552" y="1938528"/>
            <a:ext cx="2779776" cy="356616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Wind direction and speed</a:t>
            </a:r>
            <a:endParaRPr lang="en-US" sz="870" dirty="0"/>
          </a:p>
          <a:p>
            <a:pPr indent="0" marL="0">
              <a:buNone/>
            </a:pPr>
            <a:r>
              <a:rPr lang="en-US" sz="870" dirty="0">
                <a:solidFill>
                  <a:srgbClr val="B6C8C1"/>
                </a:solidFill>
              </a:rPr>
              <a:t>Stagnation index</a:t>
            </a:r>
            <a:endParaRPr lang="en-US" sz="870" dirty="0"/>
          </a:p>
          <a:p>
            <a:pPr indent="0" marL="0">
              <a:buNone/>
            </a:pPr>
            <a:r>
              <a:rPr lang="en-US" sz="870" dirty="0">
                <a:solidFill>
                  <a:srgbClr val="B6C8C1"/>
                </a:solidFill>
              </a:rPr>
              <a:t>Humidity and rainfall</a:t>
            </a:r>
            <a:endParaRPr lang="en-US" sz="870" dirty="0"/>
          </a:p>
          <a:p>
            <a:pPr indent="0" marL="0">
              <a:buNone/>
            </a:pPr>
            <a:r>
              <a:rPr lang="en-US" sz="870" dirty="0">
                <a:solidFill>
                  <a:srgbClr val="B6C8C1"/>
                </a:solidFill>
              </a:rPr>
              <a:t>Distance-decay weighting</a:t>
            </a:r>
            <a:endParaRPr lang="en-US" sz="870" dirty="0"/>
          </a:p>
          <a:p>
            <a:pPr indent="0" marL="0">
              <a:buNone/>
            </a:pPr>
            <a:r>
              <a:rPr lang="en-US" sz="870" dirty="0">
                <a:solidFill>
                  <a:srgbClr val="B6C8C1"/>
                </a:solidFill>
              </a:rPr>
              <a:t>FIRMS event age</a:t>
            </a:r>
            <a:endParaRPr lang="en-US" sz="870" dirty="0"/>
          </a:p>
          <a:p>
            <a:pPr indent="0" marL="0">
              <a:buNone/>
            </a:pPr>
            <a:r>
              <a:rPr lang="en-US" sz="870" dirty="0">
                <a:solidFill>
                  <a:srgbClr val="B6C8C1"/>
                </a:solidFill>
              </a:rPr>
              <a:t>Upwind influence</a:t>
            </a:r>
            <a:endParaRPr lang="en-US" sz="870" dirty="0"/>
          </a:p>
        </p:txBody>
      </p:sp>
      <p:sp>
        <p:nvSpPr>
          <p:cNvPr id="13" name="Shape 11"/>
          <p:cNvSpPr/>
          <p:nvPr/>
        </p:nvSpPr>
        <p:spPr>
          <a:xfrm>
            <a:off x="7818120" y="1325880"/>
            <a:ext cx="3108960" cy="4343400"/>
          </a:xfrm>
          <a:prstGeom prst="roundRect">
            <a:avLst>
              <a:gd name="adj" fmla="val 2353"/>
            </a:avLst>
          </a:prstGeom>
          <a:solidFill>
            <a:srgbClr val="0D241E"/>
          </a:solidFill>
          <a:ln w="12700">
            <a:solidFill>
              <a:srgbClr val="225347"/>
            </a:solidFill>
            <a:prstDash val="solid"/>
          </a:ln>
        </p:spPr>
      </p:sp>
      <p:sp>
        <p:nvSpPr>
          <p:cNvPr id="14" name="Text 12"/>
          <p:cNvSpPr/>
          <p:nvPr/>
        </p:nvSpPr>
        <p:spPr>
          <a:xfrm>
            <a:off x="7982712" y="1463040"/>
            <a:ext cx="2779776" cy="274320"/>
          </a:xfrm>
          <a:prstGeom prst="rect">
            <a:avLst/>
          </a:prstGeom>
          <a:noFill/>
          <a:ln/>
        </p:spPr>
        <p:txBody>
          <a:bodyPr wrap="square" lIns="0" tIns="0" rIns="0" bIns="0" rtlCol="0" anchor="ctr"/>
          <a:lstStyle/>
          <a:p>
            <a:pPr indent="0" marL="0">
              <a:buNone/>
            </a:pPr>
            <a:r>
              <a:rPr lang="en-US" sz="1200" b="1" dirty="0">
                <a:solidFill>
                  <a:srgbClr val="F3FAF7"/>
                </a:solidFill>
              </a:rPr>
              <a:t>Map safety</a:t>
            </a:r>
            <a:endParaRPr lang="en-US" sz="1200" dirty="0"/>
          </a:p>
        </p:txBody>
      </p:sp>
      <p:sp>
        <p:nvSpPr>
          <p:cNvPr id="15" name="Shape 13"/>
          <p:cNvSpPr/>
          <p:nvPr/>
        </p:nvSpPr>
        <p:spPr>
          <a:xfrm>
            <a:off x="7982712" y="1801368"/>
            <a:ext cx="2779776" cy="0"/>
          </a:xfrm>
          <a:prstGeom prst="line">
            <a:avLst/>
          </a:prstGeom>
          <a:noFill/>
          <a:ln w="12700">
            <a:solidFill>
              <a:srgbClr val="F2C94C"/>
            </a:solidFill>
            <a:prstDash val="solid"/>
          </a:ln>
        </p:spPr>
      </p:sp>
      <p:sp>
        <p:nvSpPr>
          <p:cNvPr id="16" name="Text 14"/>
          <p:cNvSpPr/>
          <p:nvPr/>
        </p:nvSpPr>
        <p:spPr>
          <a:xfrm>
            <a:off x="7982712" y="1938528"/>
            <a:ext cx="2779776" cy="356616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Station marker</a:t>
            </a:r>
            <a:endParaRPr lang="en-US" sz="870" dirty="0"/>
          </a:p>
          <a:p>
            <a:pPr indent="0" marL="0">
              <a:buNone/>
            </a:pPr>
            <a:r>
              <a:rPr lang="en-US" sz="870" dirty="0">
                <a:solidFill>
                  <a:srgbClr val="B6C8C1"/>
                </a:solidFill>
              </a:rPr>
              <a:t>1 km planning grid</a:t>
            </a:r>
            <a:endParaRPr lang="en-US" sz="870" dirty="0"/>
          </a:p>
          <a:p>
            <a:pPr indent="0" marL="0">
              <a:buNone/>
            </a:pPr>
            <a:r>
              <a:rPr lang="en-US" sz="870" dirty="0">
                <a:solidFill>
                  <a:srgbClr val="B6C8C1"/>
                </a:solidFill>
              </a:rPr>
              <a:t>Bounded FIRMS markers</a:t>
            </a:r>
            <a:endParaRPr lang="en-US" sz="870" dirty="0"/>
          </a:p>
          <a:p>
            <a:pPr indent="0" marL="0">
              <a:buNone/>
            </a:pPr>
            <a:r>
              <a:rPr lang="en-US" sz="870" dirty="0">
                <a:solidFill>
                  <a:srgbClr val="B6C8C1"/>
                </a:solidFill>
              </a:rPr>
              <a:t>OSM evidence when available</a:t>
            </a:r>
            <a:endParaRPr lang="en-US" sz="870" dirty="0"/>
          </a:p>
          <a:p>
            <a:pPr indent="0" marL="0">
              <a:buNone/>
            </a:pPr>
            <a:r>
              <a:rPr lang="en-US" sz="870" dirty="0">
                <a:solidFill>
                  <a:srgbClr val="B6C8C1"/>
                </a:solidFill>
              </a:rPr>
              <a:t>No fake plume or heatmap</a:t>
            </a:r>
            <a:endParaRPr lang="en-US" sz="870" dirty="0"/>
          </a:p>
          <a:p>
            <a:pPr indent="0" marL="0">
              <a:buNone/>
            </a:pPr>
            <a:r>
              <a:rPr lang="en-US" sz="870" dirty="0">
                <a:solidFill>
                  <a:srgbClr val="B6C8C1"/>
                </a:solidFill>
              </a:rPr>
              <a:t>Missing evidence disclosed</a:t>
            </a:r>
            <a:endParaRPr lang="en-US" sz="870" dirty="0"/>
          </a:p>
        </p:txBody>
      </p:sp>
      <p:sp>
        <p:nvSpPr>
          <p:cNvPr id="17" name="Text 15"/>
          <p:cNvSpPr/>
          <p:nvPr/>
        </p:nvSpPr>
        <p:spPr>
          <a:xfrm>
            <a:off x="502920" y="6510528"/>
            <a:ext cx="4572000" cy="164592"/>
          </a:xfrm>
          <a:prstGeom prst="rect">
            <a:avLst/>
          </a:prstGeom>
          <a:noFill/>
          <a:ln/>
        </p:spPr>
        <p:txBody>
          <a:bodyPr wrap="square" lIns="0" tIns="0" rIns="0" bIns="0" rtlCol="0" anchor="ctr"/>
          <a:lstStyle/>
          <a:p>
            <a:pPr indent="0" marL="0">
              <a:buNone/>
            </a:pPr>
            <a:r>
              <a:rPr lang="en-US" sz="700" dirty="0">
                <a:solidFill>
                  <a:srgbClr val="B6C8C1"/>
                </a:solidFill>
              </a:rPr>
              <a:t>AirView AI | ET AI Hackathon 2.0 | PS5</a:t>
            </a:r>
            <a:endParaRPr lang="en-US" sz="700" dirty="0"/>
          </a:p>
        </p:txBody>
      </p:sp>
      <p:sp>
        <p:nvSpPr>
          <p:cNvPr id="18" name="Text 16"/>
          <p:cNvSpPr/>
          <p:nvPr/>
        </p:nvSpPr>
        <p:spPr>
          <a:xfrm>
            <a:off x="11247120" y="6473952"/>
            <a:ext cx="411480" cy="182880"/>
          </a:xfrm>
          <a:prstGeom prst="rect">
            <a:avLst/>
          </a:prstGeom>
          <a:noFill/>
          <a:ln/>
        </p:spPr>
        <p:txBody>
          <a:bodyPr wrap="square" lIns="0" tIns="0" rIns="0" bIns="0" rtlCol="0" anchor="ctr"/>
          <a:lstStyle/>
          <a:p>
            <a:pPr algn="r" indent="0" marL="0">
              <a:buNone/>
            </a:pPr>
            <a:r>
              <a:rPr lang="en-US" sz="800" dirty="0">
                <a:solidFill>
                  <a:srgbClr val="B6C8C1"/>
                </a:solidFill>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412"/>
        </a:solidFill>
      </p:bgPr>
    </p:bg>
    <p:spTree>
      <p:nvGrpSpPr>
        <p:cNvPr id="1" name=""/>
        <p:cNvGrpSpPr/>
        <p:nvPr/>
      </p:nvGrpSpPr>
      <p:grpSpPr>
        <a:xfrm>
          <a:off x="0" y="0"/>
          <a:ext cx="0" cy="0"/>
          <a:chOff x="0" y="0"/>
          <a:chExt cx="0" cy="0"/>
        </a:xfrm>
      </p:grpSpPr>
      <p:sp>
        <p:nvSpPr>
          <p:cNvPr id="2" name="Text 0"/>
          <p:cNvSpPr/>
          <p:nvPr/>
        </p:nvSpPr>
        <p:spPr>
          <a:xfrm>
            <a:off x="502920" y="320040"/>
            <a:ext cx="8961120" cy="438912"/>
          </a:xfrm>
          <a:prstGeom prst="rect">
            <a:avLst/>
          </a:prstGeom>
          <a:noFill/>
          <a:ln/>
        </p:spPr>
        <p:txBody>
          <a:bodyPr wrap="square" lIns="0" tIns="0" rIns="0" bIns="0" rtlCol="0" anchor="ctr"/>
          <a:lstStyle/>
          <a:p>
            <a:pPr indent="0" marL="0">
              <a:buNone/>
            </a:pPr>
            <a:r>
              <a:rPr lang="en-US" sz="2500" b="1" dirty="0">
                <a:solidFill>
                  <a:srgbClr val="F3FAF7"/>
                </a:solidFill>
                <a:latin typeface="Aptos Display" pitchFamily="34" charset="0"/>
                <a:ea typeface="Aptos Display" pitchFamily="34" charset="-122"/>
                <a:cs typeface="Aptos Display" pitchFamily="34" charset="-120"/>
              </a:rPr>
              <a:t>From signal to action</a:t>
            </a:r>
            <a:endParaRPr lang="en-US" sz="2500" dirty="0"/>
          </a:p>
        </p:txBody>
      </p:sp>
      <p:sp>
        <p:nvSpPr>
          <p:cNvPr id="3" name="Text 1"/>
          <p:cNvSpPr/>
          <p:nvPr/>
        </p:nvSpPr>
        <p:spPr>
          <a:xfrm>
            <a:off x="530352" y="786384"/>
            <a:ext cx="9875520" cy="256032"/>
          </a:xfrm>
          <a:prstGeom prst="rect">
            <a:avLst/>
          </a:prstGeom>
          <a:noFill/>
          <a:ln/>
        </p:spPr>
        <p:txBody>
          <a:bodyPr wrap="square" lIns="0" tIns="0" rIns="0" bIns="0" rtlCol="0" anchor="ctr"/>
          <a:lstStyle/>
          <a:p>
            <a:pPr indent="0" marL="0">
              <a:buNone/>
            </a:pPr>
            <a:r>
              <a:rPr lang="en-US" sz="850" dirty="0">
                <a:solidFill>
                  <a:srgbClr val="13C99B"/>
                </a:solidFill>
              </a:rPr>
              <a:t>PRIORITY, INTERVENTION AND ADVISORY IN ONE FLOW</a:t>
            </a:r>
            <a:endParaRPr lang="en-US" sz="850" dirty="0"/>
          </a:p>
        </p:txBody>
      </p:sp>
      <p:sp>
        <p:nvSpPr>
          <p:cNvPr id="4" name="Shape 2"/>
          <p:cNvSpPr/>
          <p:nvPr/>
        </p:nvSpPr>
        <p:spPr>
          <a:xfrm>
            <a:off x="502920" y="1069848"/>
            <a:ext cx="11155680" cy="0"/>
          </a:xfrm>
          <a:prstGeom prst="line">
            <a:avLst/>
          </a:prstGeom>
          <a:noFill/>
          <a:ln w="12700">
            <a:solidFill>
              <a:srgbClr val="225347"/>
            </a:solidFill>
            <a:prstDash val="solid"/>
          </a:ln>
        </p:spPr>
      </p:sp>
      <p:sp>
        <p:nvSpPr>
          <p:cNvPr id="5" name="Shape 3"/>
          <p:cNvSpPr/>
          <p:nvPr/>
        </p:nvSpPr>
        <p:spPr>
          <a:xfrm>
            <a:off x="685800" y="2011680"/>
            <a:ext cx="1691640" cy="822960"/>
          </a:xfrm>
          <a:prstGeom prst="roundRect">
            <a:avLst>
              <a:gd name="adj" fmla="val 8889"/>
            </a:avLst>
          </a:prstGeom>
          <a:solidFill>
            <a:srgbClr val="0D241E"/>
          </a:solidFill>
          <a:ln w="12700">
            <a:solidFill>
              <a:srgbClr val="13C99B"/>
            </a:solidFill>
            <a:prstDash val="solid"/>
          </a:ln>
        </p:spPr>
      </p:sp>
      <p:sp>
        <p:nvSpPr>
          <p:cNvPr id="6" name="Text 4"/>
          <p:cNvSpPr/>
          <p:nvPr/>
        </p:nvSpPr>
        <p:spPr>
          <a:xfrm>
            <a:off x="795528" y="2240280"/>
            <a:ext cx="1463040" cy="228600"/>
          </a:xfrm>
          <a:prstGeom prst="rect">
            <a:avLst/>
          </a:prstGeom>
          <a:noFill/>
          <a:ln/>
        </p:spPr>
        <p:txBody>
          <a:bodyPr wrap="square" lIns="0" tIns="0" rIns="0" bIns="0" rtlCol="0" anchor="ctr"/>
          <a:lstStyle/>
          <a:p>
            <a:pPr algn="ctr" indent="0" marL="0">
              <a:buNone/>
            </a:pPr>
            <a:r>
              <a:rPr lang="en-US" sz="850" b="1" dirty="0">
                <a:solidFill>
                  <a:srgbClr val="F3FAF7"/>
                </a:solidFill>
              </a:rPr>
              <a:t>Forecast peak</a:t>
            </a:r>
            <a:endParaRPr lang="en-US" sz="850" dirty="0"/>
          </a:p>
        </p:txBody>
      </p:sp>
      <p:sp>
        <p:nvSpPr>
          <p:cNvPr id="7" name="Shape 5"/>
          <p:cNvSpPr/>
          <p:nvPr/>
        </p:nvSpPr>
        <p:spPr>
          <a:xfrm>
            <a:off x="2441448" y="2423160"/>
            <a:ext cx="475488" cy="0"/>
          </a:xfrm>
          <a:prstGeom prst="line">
            <a:avLst/>
          </a:prstGeom>
          <a:noFill/>
          <a:ln w="12700">
            <a:solidFill>
              <a:srgbClr val="13C99B"/>
            </a:solidFill>
            <a:prstDash val="solid"/>
            <a:headEnd type="none"/>
            <a:tailEnd type="triangle"/>
          </a:ln>
        </p:spPr>
      </p:sp>
      <p:sp>
        <p:nvSpPr>
          <p:cNvPr id="8" name="Shape 6"/>
          <p:cNvSpPr/>
          <p:nvPr/>
        </p:nvSpPr>
        <p:spPr>
          <a:xfrm>
            <a:off x="2971800" y="2011680"/>
            <a:ext cx="1691640" cy="822960"/>
          </a:xfrm>
          <a:prstGeom prst="roundRect">
            <a:avLst>
              <a:gd name="adj" fmla="val 8889"/>
            </a:avLst>
          </a:prstGeom>
          <a:solidFill>
            <a:srgbClr val="0D241E"/>
          </a:solidFill>
          <a:ln w="12700">
            <a:solidFill>
              <a:srgbClr val="225347"/>
            </a:solidFill>
            <a:prstDash val="solid"/>
          </a:ln>
        </p:spPr>
      </p:sp>
      <p:sp>
        <p:nvSpPr>
          <p:cNvPr id="9" name="Text 7"/>
          <p:cNvSpPr/>
          <p:nvPr/>
        </p:nvSpPr>
        <p:spPr>
          <a:xfrm>
            <a:off x="3081528" y="2240280"/>
            <a:ext cx="1463040" cy="228600"/>
          </a:xfrm>
          <a:prstGeom prst="rect">
            <a:avLst/>
          </a:prstGeom>
          <a:noFill/>
          <a:ln/>
        </p:spPr>
        <p:txBody>
          <a:bodyPr wrap="square" lIns="0" tIns="0" rIns="0" bIns="0" rtlCol="0" anchor="ctr"/>
          <a:lstStyle/>
          <a:p>
            <a:pPr algn="ctr" indent="0" marL="0">
              <a:buNone/>
            </a:pPr>
            <a:r>
              <a:rPr lang="en-US" sz="850" b="1" dirty="0">
                <a:solidFill>
                  <a:srgbClr val="F3FAF7"/>
                </a:solidFill>
              </a:rPr>
              <a:t>Source context</a:t>
            </a:r>
            <a:endParaRPr lang="en-US" sz="850" dirty="0"/>
          </a:p>
        </p:txBody>
      </p:sp>
      <p:sp>
        <p:nvSpPr>
          <p:cNvPr id="10" name="Shape 8"/>
          <p:cNvSpPr/>
          <p:nvPr/>
        </p:nvSpPr>
        <p:spPr>
          <a:xfrm>
            <a:off x="4727448" y="2423160"/>
            <a:ext cx="475488" cy="0"/>
          </a:xfrm>
          <a:prstGeom prst="line">
            <a:avLst/>
          </a:prstGeom>
          <a:noFill/>
          <a:ln w="12700">
            <a:solidFill>
              <a:srgbClr val="13C99B"/>
            </a:solidFill>
            <a:prstDash val="solid"/>
            <a:headEnd type="none"/>
            <a:tailEnd type="triangle"/>
          </a:ln>
        </p:spPr>
      </p:sp>
      <p:sp>
        <p:nvSpPr>
          <p:cNvPr id="11" name="Shape 9"/>
          <p:cNvSpPr/>
          <p:nvPr/>
        </p:nvSpPr>
        <p:spPr>
          <a:xfrm>
            <a:off x="5257800" y="2011680"/>
            <a:ext cx="1691640" cy="822960"/>
          </a:xfrm>
          <a:prstGeom prst="roundRect">
            <a:avLst>
              <a:gd name="adj" fmla="val 8889"/>
            </a:avLst>
          </a:prstGeom>
          <a:solidFill>
            <a:srgbClr val="0D241E"/>
          </a:solidFill>
          <a:ln w="12700">
            <a:solidFill>
              <a:srgbClr val="225347"/>
            </a:solidFill>
            <a:prstDash val="solid"/>
          </a:ln>
        </p:spPr>
      </p:sp>
      <p:sp>
        <p:nvSpPr>
          <p:cNvPr id="12" name="Text 10"/>
          <p:cNvSpPr/>
          <p:nvPr/>
        </p:nvSpPr>
        <p:spPr>
          <a:xfrm>
            <a:off x="5367528" y="2240280"/>
            <a:ext cx="1463040" cy="228600"/>
          </a:xfrm>
          <a:prstGeom prst="rect">
            <a:avLst/>
          </a:prstGeom>
          <a:noFill/>
          <a:ln/>
        </p:spPr>
        <p:txBody>
          <a:bodyPr wrap="square" lIns="0" tIns="0" rIns="0" bIns="0" rtlCol="0" anchor="ctr"/>
          <a:lstStyle/>
          <a:p>
            <a:pPr algn="ctr" indent="0" marL="0">
              <a:buNone/>
            </a:pPr>
            <a:r>
              <a:rPr lang="en-US" sz="850" b="1" dirty="0">
                <a:solidFill>
                  <a:srgbClr val="F3FAF7"/>
                </a:solidFill>
              </a:rPr>
              <a:t>Priority tier</a:t>
            </a:r>
            <a:endParaRPr lang="en-US" sz="850" dirty="0"/>
          </a:p>
        </p:txBody>
      </p:sp>
      <p:sp>
        <p:nvSpPr>
          <p:cNvPr id="13" name="Shape 11"/>
          <p:cNvSpPr/>
          <p:nvPr/>
        </p:nvSpPr>
        <p:spPr>
          <a:xfrm>
            <a:off x="7013448" y="2423160"/>
            <a:ext cx="475488" cy="0"/>
          </a:xfrm>
          <a:prstGeom prst="line">
            <a:avLst/>
          </a:prstGeom>
          <a:noFill/>
          <a:ln w="12700">
            <a:solidFill>
              <a:srgbClr val="13C99B"/>
            </a:solidFill>
            <a:prstDash val="solid"/>
            <a:headEnd type="none"/>
            <a:tailEnd type="triangle"/>
          </a:ln>
        </p:spPr>
      </p:sp>
      <p:sp>
        <p:nvSpPr>
          <p:cNvPr id="14" name="Shape 12"/>
          <p:cNvSpPr/>
          <p:nvPr/>
        </p:nvSpPr>
        <p:spPr>
          <a:xfrm>
            <a:off x="7543800" y="2011680"/>
            <a:ext cx="1691640" cy="822960"/>
          </a:xfrm>
          <a:prstGeom prst="roundRect">
            <a:avLst>
              <a:gd name="adj" fmla="val 8889"/>
            </a:avLst>
          </a:prstGeom>
          <a:solidFill>
            <a:srgbClr val="0D241E"/>
          </a:solidFill>
          <a:ln w="12700">
            <a:solidFill>
              <a:srgbClr val="225347"/>
            </a:solidFill>
            <a:prstDash val="solid"/>
          </a:ln>
        </p:spPr>
      </p:sp>
      <p:sp>
        <p:nvSpPr>
          <p:cNvPr id="15" name="Text 13"/>
          <p:cNvSpPr/>
          <p:nvPr/>
        </p:nvSpPr>
        <p:spPr>
          <a:xfrm>
            <a:off x="7653528" y="2240280"/>
            <a:ext cx="1463040" cy="228600"/>
          </a:xfrm>
          <a:prstGeom prst="rect">
            <a:avLst/>
          </a:prstGeom>
          <a:noFill/>
          <a:ln/>
        </p:spPr>
        <p:txBody>
          <a:bodyPr wrap="square" lIns="0" tIns="0" rIns="0" bIns="0" rtlCol="0" anchor="ctr"/>
          <a:lstStyle/>
          <a:p>
            <a:pPr algn="ctr" indent="0" marL="0">
              <a:buNone/>
            </a:pPr>
            <a:r>
              <a:rPr lang="en-US" sz="850" b="1" dirty="0">
                <a:solidFill>
                  <a:srgbClr val="F3FAF7"/>
                </a:solidFill>
              </a:rPr>
              <a:t>Intervention</a:t>
            </a:r>
            <a:endParaRPr lang="en-US" sz="850" dirty="0"/>
          </a:p>
        </p:txBody>
      </p:sp>
      <p:sp>
        <p:nvSpPr>
          <p:cNvPr id="16" name="Shape 14"/>
          <p:cNvSpPr/>
          <p:nvPr/>
        </p:nvSpPr>
        <p:spPr>
          <a:xfrm>
            <a:off x="9299448" y="2423160"/>
            <a:ext cx="475488" cy="0"/>
          </a:xfrm>
          <a:prstGeom prst="line">
            <a:avLst/>
          </a:prstGeom>
          <a:noFill/>
          <a:ln w="12700">
            <a:solidFill>
              <a:srgbClr val="13C99B"/>
            </a:solidFill>
            <a:prstDash val="solid"/>
            <a:headEnd type="none"/>
            <a:tailEnd type="triangle"/>
          </a:ln>
        </p:spPr>
      </p:sp>
      <p:sp>
        <p:nvSpPr>
          <p:cNvPr id="17" name="Shape 15"/>
          <p:cNvSpPr/>
          <p:nvPr/>
        </p:nvSpPr>
        <p:spPr>
          <a:xfrm>
            <a:off x="9829800" y="2011680"/>
            <a:ext cx="1691640" cy="822960"/>
          </a:xfrm>
          <a:prstGeom prst="roundRect">
            <a:avLst>
              <a:gd name="adj" fmla="val 8889"/>
            </a:avLst>
          </a:prstGeom>
          <a:solidFill>
            <a:srgbClr val="0D241E"/>
          </a:solidFill>
          <a:ln w="12700">
            <a:solidFill>
              <a:srgbClr val="225347"/>
            </a:solidFill>
            <a:prstDash val="solid"/>
          </a:ln>
        </p:spPr>
      </p:sp>
      <p:sp>
        <p:nvSpPr>
          <p:cNvPr id="18" name="Text 16"/>
          <p:cNvSpPr/>
          <p:nvPr/>
        </p:nvSpPr>
        <p:spPr>
          <a:xfrm>
            <a:off x="9939528" y="2240280"/>
            <a:ext cx="1463040" cy="228600"/>
          </a:xfrm>
          <a:prstGeom prst="rect">
            <a:avLst/>
          </a:prstGeom>
          <a:noFill/>
          <a:ln/>
        </p:spPr>
        <p:txBody>
          <a:bodyPr wrap="square" lIns="0" tIns="0" rIns="0" bIns="0" rtlCol="0" anchor="ctr"/>
          <a:lstStyle/>
          <a:p>
            <a:pPr algn="ctr" indent="0" marL="0">
              <a:buNone/>
            </a:pPr>
            <a:r>
              <a:rPr lang="en-US" sz="850" b="1" dirty="0">
                <a:solidFill>
                  <a:srgbClr val="F3FAF7"/>
                </a:solidFill>
              </a:rPr>
              <a:t>Citizen advisory</a:t>
            </a:r>
            <a:endParaRPr lang="en-US" sz="850" dirty="0"/>
          </a:p>
        </p:txBody>
      </p:sp>
      <p:sp>
        <p:nvSpPr>
          <p:cNvPr id="19" name="Shape 17"/>
          <p:cNvSpPr/>
          <p:nvPr/>
        </p:nvSpPr>
        <p:spPr>
          <a:xfrm>
            <a:off x="1005840" y="3749040"/>
            <a:ext cx="4480560" cy="1280160"/>
          </a:xfrm>
          <a:prstGeom prst="roundRect">
            <a:avLst>
              <a:gd name="adj" fmla="val 5714"/>
            </a:avLst>
          </a:prstGeom>
          <a:solidFill>
            <a:srgbClr val="0D241E"/>
          </a:solidFill>
          <a:ln w="12700">
            <a:solidFill>
              <a:srgbClr val="225347"/>
            </a:solidFill>
            <a:prstDash val="solid"/>
          </a:ln>
        </p:spPr>
      </p:sp>
      <p:sp>
        <p:nvSpPr>
          <p:cNvPr id="20" name="Text 18"/>
          <p:cNvSpPr/>
          <p:nvPr/>
        </p:nvSpPr>
        <p:spPr>
          <a:xfrm>
            <a:off x="1170432" y="3886200"/>
            <a:ext cx="4151376" cy="274320"/>
          </a:xfrm>
          <a:prstGeom prst="rect">
            <a:avLst/>
          </a:prstGeom>
          <a:noFill/>
          <a:ln/>
        </p:spPr>
        <p:txBody>
          <a:bodyPr wrap="square" lIns="0" tIns="0" rIns="0" bIns="0" rtlCol="0" anchor="ctr"/>
          <a:lstStyle/>
          <a:p>
            <a:pPr indent="0" marL="0">
              <a:buNone/>
            </a:pPr>
            <a:r>
              <a:rPr lang="en-US" sz="1200" b="1" dirty="0">
                <a:solidFill>
                  <a:srgbClr val="F3FAF7"/>
                </a:solidFill>
              </a:rPr>
              <a:t>For officials</a:t>
            </a:r>
            <a:endParaRPr lang="en-US" sz="1200" dirty="0"/>
          </a:p>
        </p:txBody>
      </p:sp>
      <p:sp>
        <p:nvSpPr>
          <p:cNvPr id="21" name="Shape 19"/>
          <p:cNvSpPr/>
          <p:nvPr/>
        </p:nvSpPr>
        <p:spPr>
          <a:xfrm>
            <a:off x="1170432" y="4224528"/>
            <a:ext cx="4151376" cy="0"/>
          </a:xfrm>
          <a:prstGeom prst="line">
            <a:avLst/>
          </a:prstGeom>
          <a:noFill/>
          <a:ln w="12700">
            <a:solidFill>
              <a:srgbClr val="13C99B"/>
            </a:solidFill>
            <a:prstDash val="solid"/>
          </a:ln>
        </p:spPr>
      </p:sp>
      <p:sp>
        <p:nvSpPr>
          <p:cNvPr id="22" name="Text 20"/>
          <p:cNvSpPr/>
          <p:nvPr/>
        </p:nvSpPr>
        <p:spPr>
          <a:xfrm>
            <a:off x="1170432" y="4361688"/>
            <a:ext cx="4151376" cy="50292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Prioritised inspections, source-specific recommended actions, controllability, response window, caveats and scenario-sensitivity estimates.</a:t>
            </a:r>
            <a:endParaRPr lang="en-US" sz="870" dirty="0"/>
          </a:p>
        </p:txBody>
      </p:sp>
      <p:sp>
        <p:nvSpPr>
          <p:cNvPr id="23" name="Shape 21"/>
          <p:cNvSpPr/>
          <p:nvPr/>
        </p:nvSpPr>
        <p:spPr>
          <a:xfrm>
            <a:off x="6400800" y="3749040"/>
            <a:ext cx="4480560" cy="1280160"/>
          </a:xfrm>
          <a:prstGeom prst="roundRect">
            <a:avLst>
              <a:gd name="adj" fmla="val 5714"/>
            </a:avLst>
          </a:prstGeom>
          <a:solidFill>
            <a:srgbClr val="0D241E"/>
          </a:solidFill>
          <a:ln w="12700">
            <a:solidFill>
              <a:srgbClr val="225347"/>
            </a:solidFill>
            <a:prstDash val="solid"/>
          </a:ln>
        </p:spPr>
      </p:sp>
      <p:sp>
        <p:nvSpPr>
          <p:cNvPr id="24" name="Text 22"/>
          <p:cNvSpPr/>
          <p:nvPr/>
        </p:nvSpPr>
        <p:spPr>
          <a:xfrm>
            <a:off x="6565392" y="3886200"/>
            <a:ext cx="4151376" cy="274320"/>
          </a:xfrm>
          <a:prstGeom prst="rect">
            <a:avLst/>
          </a:prstGeom>
          <a:noFill/>
          <a:ln/>
        </p:spPr>
        <p:txBody>
          <a:bodyPr wrap="square" lIns="0" tIns="0" rIns="0" bIns="0" rtlCol="0" anchor="ctr"/>
          <a:lstStyle/>
          <a:p>
            <a:pPr indent="0" marL="0">
              <a:buNone/>
            </a:pPr>
            <a:r>
              <a:rPr lang="en-US" sz="1200" b="1" dirty="0">
                <a:solidFill>
                  <a:srgbClr val="F3FAF7"/>
                </a:solidFill>
              </a:rPr>
              <a:t>For citizens</a:t>
            </a:r>
            <a:endParaRPr lang="en-US" sz="1200" dirty="0"/>
          </a:p>
        </p:txBody>
      </p:sp>
      <p:sp>
        <p:nvSpPr>
          <p:cNvPr id="25" name="Shape 23"/>
          <p:cNvSpPr/>
          <p:nvPr/>
        </p:nvSpPr>
        <p:spPr>
          <a:xfrm>
            <a:off x="6565392" y="4224528"/>
            <a:ext cx="4151376" cy="0"/>
          </a:xfrm>
          <a:prstGeom prst="line">
            <a:avLst/>
          </a:prstGeom>
          <a:noFill/>
          <a:ln w="12700">
            <a:solidFill>
              <a:srgbClr val="FFB86B"/>
            </a:solidFill>
            <a:prstDash val="solid"/>
          </a:ln>
        </p:spPr>
      </p:sp>
      <p:sp>
        <p:nvSpPr>
          <p:cNvPr id="26" name="Text 24"/>
          <p:cNvSpPr/>
          <p:nvPr/>
        </p:nvSpPr>
        <p:spPr>
          <a:xfrm>
            <a:off x="6565392" y="4361688"/>
            <a:ext cx="4151376" cy="50292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Short, standard and detailed advisories in English, Hindi and Punjabi; replay/live status and public-information disclaimer included.</a:t>
            </a:r>
            <a:endParaRPr lang="en-US" sz="870" dirty="0"/>
          </a:p>
        </p:txBody>
      </p:sp>
      <p:sp>
        <p:nvSpPr>
          <p:cNvPr id="27" name="Text 25"/>
          <p:cNvSpPr/>
          <p:nvPr/>
        </p:nvSpPr>
        <p:spPr>
          <a:xfrm>
            <a:off x="502920" y="6510528"/>
            <a:ext cx="4572000" cy="164592"/>
          </a:xfrm>
          <a:prstGeom prst="rect">
            <a:avLst/>
          </a:prstGeom>
          <a:noFill/>
          <a:ln/>
        </p:spPr>
        <p:txBody>
          <a:bodyPr wrap="square" lIns="0" tIns="0" rIns="0" bIns="0" rtlCol="0" anchor="ctr"/>
          <a:lstStyle/>
          <a:p>
            <a:pPr indent="0" marL="0">
              <a:buNone/>
            </a:pPr>
            <a:r>
              <a:rPr lang="en-US" sz="700" dirty="0">
                <a:solidFill>
                  <a:srgbClr val="B6C8C1"/>
                </a:solidFill>
              </a:rPr>
              <a:t>AirView AI | ET AI Hackathon 2.0 | PS5</a:t>
            </a:r>
            <a:endParaRPr lang="en-US" sz="700" dirty="0"/>
          </a:p>
        </p:txBody>
      </p:sp>
      <p:sp>
        <p:nvSpPr>
          <p:cNvPr id="28" name="Text 26"/>
          <p:cNvSpPr/>
          <p:nvPr/>
        </p:nvSpPr>
        <p:spPr>
          <a:xfrm>
            <a:off x="11247120" y="6473952"/>
            <a:ext cx="411480" cy="182880"/>
          </a:xfrm>
          <a:prstGeom prst="rect">
            <a:avLst/>
          </a:prstGeom>
          <a:noFill/>
          <a:ln/>
        </p:spPr>
        <p:txBody>
          <a:bodyPr wrap="square" lIns="0" tIns="0" rIns="0" bIns="0" rtlCol="0" anchor="ctr"/>
          <a:lstStyle/>
          <a:p>
            <a:pPr algn="r" indent="0" marL="0">
              <a:buNone/>
            </a:pPr>
            <a:r>
              <a:rPr lang="en-US" sz="800" dirty="0">
                <a:solidFill>
                  <a:srgbClr val="B6C8C1"/>
                </a:solidFill>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412"/>
        </a:solidFill>
      </p:bgPr>
    </p:bg>
    <p:spTree>
      <p:nvGrpSpPr>
        <p:cNvPr id="1" name=""/>
        <p:cNvGrpSpPr/>
        <p:nvPr/>
      </p:nvGrpSpPr>
      <p:grpSpPr>
        <a:xfrm>
          <a:off x="0" y="0"/>
          <a:ext cx="0" cy="0"/>
          <a:chOff x="0" y="0"/>
          <a:chExt cx="0" cy="0"/>
        </a:xfrm>
      </p:grpSpPr>
      <p:sp>
        <p:nvSpPr>
          <p:cNvPr id="2" name="Text 0"/>
          <p:cNvSpPr/>
          <p:nvPr/>
        </p:nvSpPr>
        <p:spPr>
          <a:xfrm>
            <a:off x="502920" y="320040"/>
            <a:ext cx="8961120" cy="438912"/>
          </a:xfrm>
          <a:prstGeom prst="rect">
            <a:avLst/>
          </a:prstGeom>
          <a:noFill/>
          <a:ln/>
        </p:spPr>
        <p:txBody>
          <a:bodyPr wrap="square" lIns="0" tIns="0" rIns="0" bIns="0" rtlCol="0" anchor="ctr"/>
          <a:lstStyle/>
          <a:p>
            <a:pPr indent="0" marL="0">
              <a:buNone/>
            </a:pPr>
            <a:r>
              <a:rPr lang="en-US" sz="2500" b="1" dirty="0">
                <a:solidFill>
                  <a:srgbClr val="F3FAF7"/>
                </a:solidFill>
                <a:latin typeface="Aptos Display" pitchFamily="34" charset="0"/>
                <a:ea typeface="Aptos Display" pitchFamily="34" charset="-122"/>
                <a:cs typeface="Aptos Display" pitchFamily="34" charset="-120"/>
              </a:rPr>
              <a:t>Final demo product</a:t>
            </a:r>
            <a:endParaRPr lang="en-US" sz="2500" dirty="0"/>
          </a:p>
        </p:txBody>
      </p:sp>
      <p:sp>
        <p:nvSpPr>
          <p:cNvPr id="3" name="Text 1"/>
          <p:cNvSpPr/>
          <p:nvPr/>
        </p:nvSpPr>
        <p:spPr>
          <a:xfrm>
            <a:off x="530352" y="786384"/>
            <a:ext cx="9875520" cy="256032"/>
          </a:xfrm>
          <a:prstGeom prst="rect">
            <a:avLst/>
          </a:prstGeom>
          <a:noFill/>
          <a:ln/>
        </p:spPr>
        <p:txBody>
          <a:bodyPr wrap="square" lIns="0" tIns="0" rIns="0" bIns="0" rtlCol="0" anchor="ctr"/>
          <a:lstStyle/>
          <a:p>
            <a:pPr indent="0" marL="0">
              <a:buNone/>
            </a:pPr>
            <a:r>
              <a:rPr lang="en-US" sz="850" dirty="0">
                <a:solidFill>
                  <a:srgbClr val="13C99B"/>
                </a:solidFill>
              </a:rPr>
              <a:t>ONE PROFESSIONAL COMMAND-CENTRE ENDPOINT</a:t>
            </a:r>
            <a:endParaRPr lang="en-US" sz="850" dirty="0"/>
          </a:p>
        </p:txBody>
      </p:sp>
      <p:sp>
        <p:nvSpPr>
          <p:cNvPr id="4" name="Shape 2"/>
          <p:cNvSpPr/>
          <p:nvPr/>
        </p:nvSpPr>
        <p:spPr>
          <a:xfrm>
            <a:off x="502920" y="1069848"/>
            <a:ext cx="11155680" cy="0"/>
          </a:xfrm>
          <a:prstGeom prst="line">
            <a:avLst/>
          </a:prstGeom>
          <a:noFill/>
          <a:ln w="12700">
            <a:solidFill>
              <a:srgbClr val="225347"/>
            </a:solidFill>
            <a:prstDash val="solid"/>
          </a:ln>
        </p:spPr>
      </p:sp>
      <p:sp>
        <p:nvSpPr>
          <p:cNvPr id="5" name="Shape 3"/>
          <p:cNvSpPr/>
          <p:nvPr/>
        </p:nvSpPr>
        <p:spPr>
          <a:xfrm>
            <a:off x="777240" y="1261872"/>
            <a:ext cx="3108960" cy="4343400"/>
          </a:xfrm>
          <a:prstGeom prst="roundRect">
            <a:avLst>
              <a:gd name="adj" fmla="val 2353"/>
            </a:avLst>
          </a:prstGeom>
          <a:solidFill>
            <a:srgbClr val="0D241E"/>
          </a:solidFill>
          <a:ln w="12700">
            <a:solidFill>
              <a:srgbClr val="225347"/>
            </a:solidFill>
            <a:prstDash val="solid"/>
          </a:ln>
        </p:spPr>
      </p:sp>
      <p:sp>
        <p:nvSpPr>
          <p:cNvPr id="6" name="Text 4"/>
          <p:cNvSpPr/>
          <p:nvPr/>
        </p:nvSpPr>
        <p:spPr>
          <a:xfrm>
            <a:off x="941832" y="1399032"/>
            <a:ext cx="2779776" cy="274320"/>
          </a:xfrm>
          <a:prstGeom prst="rect">
            <a:avLst/>
          </a:prstGeom>
          <a:noFill/>
          <a:ln/>
        </p:spPr>
        <p:txBody>
          <a:bodyPr wrap="square" lIns="0" tIns="0" rIns="0" bIns="0" rtlCol="0" anchor="ctr"/>
          <a:lstStyle/>
          <a:p>
            <a:pPr indent="0" marL="0">
              <a:buNone/>
            </a:pPr>
            <a:r>
              <a:rPr lang="en-US" sz="1200" b="1" dirty="0">
                <a:solidFill>
                  <a:srgbClr val="F3FAF7"/>
                </a:solidFill>
              </a:rPr>
              <a:t>Frontend</a:t>
            </a:r>
            <a:endParaRPr lang="en-US" sz="1200" dirty="0"/>
          </a:p>
        </p:txBody>
      </p:sp>
      <p:sp>
        <p:nvSpPr>
          <p:cNvPr id="7" name="Shape 5"/>
          <p:cNvSpPr/>
          <p:nvPr/>
        </p:nvSpPr>
        <p:spPr>
          <a:xfrm>
            <a:off x="941832" y="1737360"/>
            <a:ext cx="2779776" cy="0"/>
          </a:xfrm>
          <a:prstGeom prst="line">
            <a:avLst/>
          </a:prstGeom>
          <a:noFill/>
          <a:ln w="12700">
            <a:solidFill>
              <a:srgbClr val="13C99B"/>
            </a:solidFill>
            <a:prstDash val="solid"/>
          </a:ln>
        </p:spPr>
      </p:sp>
      <p:sp>
        <p:nvSpPr>
          <p:cNvPr id="8" name="Text 6"/>
          <p:cNvSpPr/>
          <p:nvPr/>
        </p:nvSpPr>
        <p:spPr>
          <a:xfrm>
            <a:off x="941832" y="1874520"/>
            <a:ext cx="2779776" cy="356616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/dashboard as main route</a:t>
            </a:r>
            <a:endParaRPr lang="en-US" sz="870" dirty="0"/>
          </a:p>
          <a:p>
            <a:pPr indent="0" marL="0">
              <a:buNone/>
            </a:pPr>
            <a:r>
              <a:rPr lang="en-US" sz="870" dirty="0">
                <a:solidFill>
                  <a:srgbClr val="B6C8C1"/>
                </a:solidFill>
              </a:rPr>
              <a:t>City/pollutant/window controls</a:t>
            </a:r>
            <a:endParaRPr lang="en-US" sz="870" dirty="0"/>
          </a:p>
          <a:p>
            <a:pPr indent="0" marL="0">
              <a:buNone/>
            </a:pPr>
            <a:r>
              <a:rPr lang="en-US" sz="870" dirty="0">
                <a:solidFill>
                  <a:srgbClr val="B6C8C1"/>
                </a:solidFill>
              </a:rPr>
              <a:t>Forecast chart</a:t>
            </a:r>
            <a:endParaRPr lang="en-US" sz="870" dirty="0"/>
          </a:p>
          <a:p>
            <a:pPr indent="0" marL="0">
              <a:buNone/>
            </a:pPr>
            <a:r>
              <a:rPr lang="en-US" sz="870" dirty="0">
                <a:solidFill>
                  <a:srgbClr val="B6C8C1"/>
                </a:solidFill>
              </a:rPr>
              <a:t>Map with OSM attribution</a:t>
            </a:r>
            <a:endParaRPr lang="en-US" sz="870" dirty="0"/>
          </a:p>
          <a:p>
            <a:pPr indent="0" marL="0">
              <a:buNone/>
            </a:pPr>
            <a:r>
              <a:rPr lang="en-US" sz="870" dirty="0">
                <a:solidFill>
                  <a:srgbClr val="B6C8C1"/>
                </a:solidFill>
              </a:rPr>
              <a:t>Action queue</a:t>
            </a:r>
            <a:endParaRPr lang="en-US" sz="870" dirty="0"/>
          </a:p>
          <a:p>
            <a:pPr indent="0" marL="0">
              <a:buNone/>
            </a:pPr>
            <a:r>
              <a:rPr lang="en-US" sz="870" dirty="0">
                <a:solidFill>
                  <a:srgbClr val="B6C8C1"/>
                </a:solidFill>
              </a:rPr>
              <a:t>No dev logs on demo surface</a:t>
            </a:r>
            <a:endParaRPr lang="en-US" sz="870" dirty="0"/>
          </a:p>
        </p:txBody>
      </p:sp>
      <p:sp>
        <p:nvSpPr>
          <p:cNvPr id="9" name="Shape 7"/>
          <p:cNvSpPr/>
          <p:nvPr/>
        </p:nvSpPr>
        <p:spPr>
          <a:xfrm>
            <a:off x="4389120" y="1261872"/>
            <a:ext cx="3108960" cy="4343400"/>
          </a:xfrm>
          <a:prstGeom prst="roundRect">
            <a:avLst>
              <a:gd name="adj" fmla="val 2353"/>
            </a:avLst>
          </a:prstGeom>
          <a:solidFill>
            <a:srgbClr val="0D241E"/>
          </a:solidFill>
          <a:ln w="12700">
            <a:solidFill>
              <a:srgbClr val="225347"/>
            </a:solidFill>
            <a:prstDash val="solid"/>
          </a:ln>
        </p:spPr>
      </p:sp>
      <p:sp>
        <p:nvSpPr>
          <p:cNvPr id="10" name="Text 8"/>
          <p:cNvSpPr/>
          <p:nvPr/>
        </p:nvSpPr>
        <p:spPr>
          <a:xfrm>
            <a:off x="4553712" y="1399032"/>
            <a:ext cx="2779776" cy="274320"/>
          </a:xfrm>
          <a:prstGeom prst="rect">
            <a:avLst/>
          </a:prstGeom>
          <a:noFill/>
          <a:ln/>
        </p:spPr>
        <p:txBody>
          <a:bodyPr wrap="square" lIns="0" tIns="0" rIns="0" bIns="0" rtlCol="0" anchor="ctr"/>
          <a:lstStyle/>
          <a:p>
            <a:pPr indent="0" marL="0">
              <a:buNone/>
            </a:pPr>
            <a:r>
              <a:rPr lang="en-US" sz="1200" b="1" dirty="0">
                <a:solidFill>
                  <a:srgbClr val="F3FAF7"/>
                </a:solidFill>
              </a:rPr>
              <a:t>Backend</a:t>
            </a:r>
            <a:endParaRPr lang="en-US" sz="1200" dirty="0"/>
          </a:p>
        </p:txBody>
      </p:sp>
      <p:sp>
        <p:nvSpPr>
          <p:cNvPr id="11" name="Shape 9"/>
          <p:cNvSpPr/>
          <p:nvPr/>
        </p:nvSpPr>
        <p:spPr>
          <a:xfrm>
            <a:off x="4553712" y="1737360"/>
            <a:ext cx="2779776" cy="0"/>
          </a:xfrm>
          <a:prstGeom prst="line">
            <a:avLst/>
          </a:prstGeom>
          <a:noFill/>
          <a:ln w="12700">
            <a:solidFill>
              <a:srgbClr val="FFB86B"/>
            </a:solidFill>
            <a:prstDash val="solid"/>
          </a:ln>
        </p:spPr>
      </p:sp>
      <p:sp>
        <p:nvSpPr>
          <p:cNvPr id="12" name="Text 10"/>
          <p:cNvSpPr/>
          <p:nvPr/>
        </p:nvSpPr>
        <p:spPr>
          <a:xfrm>
            <a:off x="4553712" y="1874520"/>
            <a:ext cx="2779776" cy="356616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/api/operations/status</a:t>
            </a:r>
            <a:endParaRPr lang="en-US" sz="870" dirty="0"/>
          </a:p>
          <a:p>
            <a:pPr indent="0" marL="0">
              <a:buNone/>
            </a:pPr>
            <a:r>
              <a:rPr lang="en-US" sz="870" dirty="0">
                <a:solidFill>
                  <a:srgbClr val="B6C8C1"/>
                </a:solidFill>
              </a:rPr>
              <a:t>/api/operations/cities</a:t>
            </a:r>
            <a:endParaRPr lang="en-US" sz="870" dirty="0"/>
          </a:p>
          <a:p>
            <a:pPr indent="0" marL="0">
              <a:buNone/>
            </a:pPr>
            <a:r>
              <a:rPr lang="en-US" sz="870" dirty="0">
                <a:solidFill>
                  <a:srgbClr val="B6C8C1"/>
                </a:solidFill>
              </a:rPr>
              <a:t>/api/operations/dashboard</a:t>
            </a:r>
            <a:endParaRPr lang="en-US" sz="870" dirty="0"/>
          </a:p>
          <a:p>
            <a:pPr indent="0" marL="0">
              <a:buNone/>
            </a:pPr>
            <a:r>
              <a:rPr lang="en-US" sz="870" dirty="0">
                <a:solidFill>
                  <a:srgbClr val="B6C8C1"/>
                </a:solidFill>
              </a:rPr>
              <a:t>/api/operations/network</a:t>
            </a:r>
            <a:endParaRPr lang="en-US" sz="870" dirty="0"/>
          </a:p>
          <a:p>
            <a:pPr indent="0" marL="0">
              <a:buNone/>
            </a:pPr>
            <a:r>
              <a:rPr lang="en-US" sz="870" dirty="0">
                <a:solidFill>
                  <a:srgbClr val="B6C8C1"/>
                </a:solidFill>
              </a:rPr>
              <a:t>Live provider retries</a:t>
            </a:r>
            <a:endParaRPr lang="en-US" sz="870" dirty="0"/>
          </a:p>
          <a:p>
            <a:pPr indent="0" marL="0">
              <a:buNone/>
            </a:pPr>
            <a:r>
              <a:rPr lang="en-US" sz="870" dirty="0">
                <a:solidFill>
                  <a:srgbClr val="B6C8C1"/>
                </a:solidFill>
              </a:rPr>
              <a:t>Replay fallback</a:t>
            </a:r>
            <a:endParaRPr lang="en-US" sz="870" dirty="0"/>
          </a:p>
        </p:txBody>
      </p:sp>
      <p:sp>
        <p:nvSpPr>
          <p:cNvPr id="13" name="Shape 11"/>
          <p:cNvSpPr/>
          <p:nvPr/>
        </p:nvSpPr>
        <p:spPr>
          <a:xfrm>
            <a:off x="8001000" y="1261872"/>
            <a:ext cx="3108960" cy="4343400"/>
          </a:xfrm>
          <a:prstGeom prst="roundRect">
            <a:avLst>
              <a:gd name="adj" fmla="val 2353"/>
            </a:avLst>
          </a:prstGeom>
          <a:solidFill>
            <a:srgbClr val="0D241E"/>
          </a:solidFill>
          <a:ln w="12700">
            <a:solidFill>
              <a:srgbClr val="225347"/>
            </a:solidFill>
            <a:prstDash val="solid"/>
          </a:ln>
        </p:spPr>
      </p:sp>
      <p:sp>
        <p:nvSpPr>
          <p:cNvPr id="14" name="Text 12"/>
          <p:cNvSpPr/>
          <p:nvPr/>
        </p:nvSpPr>
        <p:spPr>
          <a:xfrm>
            <a:off x="8165592" y="1399032"/>
            <a:ext cx="2779776" cy="274320"/>
          </a:xfrm>
          <a:prstGeom prst="rect">
            <a:avLst/>
          </a:prstGeom>
          <a:noFill/>
          <a:ln/>
        </p:spPr>
        <p:txBody>
          <a:bodyPr wrap="square" lIns="0" tIns="0" rIns="0" bIns="0" rtlCol="0" anchor="ctr"/>
          <a:lstStyle/>
          <a:p>
            <a:pPr indent="0" marL="0">
              <a:buNone/>
            </a:pPr>
            <a:r>
              <a:rPr lang="en-US" sz="1200" b="1" dirty="0">
                <a:solidFill>
                  <a:srgbClr val="F3FAF7"/>
                </a:solidFill>
              </a:rPr>
              <a:t>Demo scripts</a:t>
            </a:r>
            <a:endParaRPr lang="en-US" sz="1200" dirty="0"/>
          </a:p>
        </p:txBody>
      </p:sp>
      <p:sp>
        <p:nvSpPr>
          <p:cNvPr id="15" name="Shape 13"/>
          <p:cNvSpPr/>
          <p:nvPr/>
        </p:nvSpPr>
        <p:spPr>
          <a:xfrm>
            <a:off x="8165592" y="1737360"/>
            <a:ext cx="2779776" cy="0"/>
          </a:xfrm>
          <a:prstGeom prst="line">
            <a:avLst/>
          </a:prstGeom>
          <a:noFill/>
          <a:ln w="12700">
            <a:solidFill>
              <a:srgbClr val="F2C94C"/>
            </a:solidFill>
            <a:prstDash val="solid"/>
          </a:ln>
        </p:spPr>
      </p:sp>
      <p:sp>
        <p:nvSpPr>
          <p:cNvPr id="16" name="Text 14"/>
          <p:cNvSpPr/>
          <p:nvPr/>
        </p:nvSpPr>
        <p:spPr>
          <a:xfrm>
            <a:off x="8165592" y="1874520"/>
            <a:ext cx="2779776" cy="356616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scripts/run_demo.ps1</a:t>
            </a:r>
            <a:endParaRPr lang="en-US" sz="870" dirty="0"/>
          </a:p>
          <a:p>
            <a:pPr indent="0" marL="0">
              <a:buNone/>
            </a:pPr>
            <a:r>
              <a:rPr lang="en-US" sz="870" dirty="0">
                <a:solidFill>
                  <a:srgbClr val="B6C8C1"/>
                </a:solidFill>
              </a:rPr>
              <a:t>scripts/verify_demo.ps1</a:t>
            </a:r>
            <a:endParaRPr lang="en-US" sz="870" dirty="0"/>
          </a:p>
          <a:p>
            <a:pPr indent="0" marL="0">
              <a:buNone/>
            </a:pPr>
            <a:r>
              <a:rPr lang="en-US" sz="870" dirty="0">
                <a:solidFill>
                  <a:srgbClr val="B6C8C1"/>
                </a:solidFill>
              </a:rPr>
              <a:t>scripts/stop_demo.ps1</a:t>
            </a:r>
            <a:endParaRPr lang="en-US" sz="870" dirty="0"/>
          </a:p>
          <a:p>
            <a:pPr indent="0" marL="0">
              <a:buNone/>
            </a:pPr>
            <a:r>
              <a:rPr lang="en-US" sz="870" dirty="0">
                <a:solidFill>
                  <a:srgbClr val="B6C8C1"/>
                </a:solidFill>
              </a:rPr>
              <a:t>Validation reports</a:t>
            </a:r>
            <a:endParaRPr lang="en-US" sz="870" dirty="0"/>
          </a:p>
          <a:p>
            <a:pPr indent="0" marL="0">
              <a:buNone/>
            </a:pPr>
            <a:r>
              <a:rPr lang="en-US" sz="870" dirty="0">
                <a:solidFill>
                  <a:srgbClr val="B6C8C1"/>
                </a:solidFill>
              </a:rPr>
              <a:t>README workflow</a:t>
            </a:r>
            <a:endParaRPr lang="en-US" sz="870" dirty="0"/>
          </a:p>
          <a:p>
            <a:pPr indent="0" marL="0">
              <a:buNone/>
            </a:pPr>
            <a:r>
              <a:rPr lang="en-US" sz="870" dirty="0">
                <a:solidFill>
                  <a:srgbClr val="B6C8C1"/>
                </a:solidFill>
              </a:rPr>
              <a:t>Submission docs and deck</a:t>
            </a:r>
            <a:endParaRPr lang="en-US" sz="870" dirty="0"/>
          </a:p>
        </p:txBody>
      </p:sp>
      <p:sp>
        <p:nvSpPr>
          <p:cNvPr id="17" name="Text 15"/>
          <p:cNvSpPr/>
          <p:nvPr/>
        </p:nvSpPr>
        <p:spPr>
          <a:xfrm>
            <a:off x="502920" y="6510528"/>
            <a:ext cx="4572000" cy="164592"/>
          </a:xfrm>
          <a:prstGeom prst="rect">
            <a:avLst/>
          </a:prstGeom>
          <a:noFill/>
          <a:ln/>
        </p:spPr>
        <p:txBody>
          <a:bodyPr wrap="square" lIns="0" tIns="0" rIns="0" bIns="0" rtlCol="0" anchor="ctr"/>
          <a:lstStyle/>
          <a:p>
            <a:pPr indent="0" marL="0">
              <a:buNone/>
            </a:pPr>
            <a:r>
              <a:rPr lang="en-US" sz="700" dirty="0">
                <a:solidFill>
                  <a:srgbClr val="B6C8C1"/>
                </a:solidFill>
              </a:rPr>
              <a:t>AirView AI | ET AI Hackathon 2.0 | PS5</a:t>
            </a:r>
            <a:endParaRPr lang="en-US" sz="700" dirty="0"/>
          </a:p>
        </p:txBody>
      </p:sp>
      <p:sp>
        <p:nvSpPr>
          <p:cNvPr id="18" name="Text 16"/>
          <p:cNvSpPr/>
          <p:nvPr/>
        </p:nvSpPr>
        <p:spPr>
          <a:xfrm>
            <a:off x="11247120" y="6473952"/>
            <a:ext cx="411480" cy="182880"/>
          </a:xfrm>
          <a:prstGeom prst="rect">
            <a:avLst/>
          </a:prstGeom>
          <a:noFill/>
          <a:ln/>
        </p:spPr>
        <p:txBody>
          <a:bodyPr wrap="square" lIns="0" tIns="0" rIns="0" bIns="0" rtlCol="0" anchor="ctr"/>
          <a:lstStyle/>
          <a:p>
            <a:pPr algn="r" indent="0" marL="0">
              <a:buNone/>
            </a:pPr>
            <a:r>
              <a:rPr lang="en-US" sz="800" dirty="0">
                <a:solidFill>
                  <a:srgbClr val="B6C8C1"/>
                </a:solidFill>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412"/>
        </a:solidFill>
      </p:bgPr>
    </p:bg>
    <p:spTree>
      <p:nvGrpSpPr>
        <p:cNvPr id="1" name=""/>
        <p:cNvGrpSpPr/>
        <p:nvPr/>
      </p:nvGrpSpPr>
      <p:grpSpPr>
        <a:xfrm>
          <a:off x="0" y="0"/>
          <a:ext cx="0" cy="0"/>
          <a:chOff x="0" y="0"/>
          <a:chExt cx="0" cy="0"/>
        </a:xfrm>
      </p:grpSpPr>
      <p:sp>
        <p:nvSpPr>
          <p:cNvPr id="2" name="Text 0"/>
          <p:cNvSpPr/>
          <p:nvPr/>
        </p:nvSpPr>
        <p:spPr>
          <a:xfrm>
            <a:off x="502920" y="320040"/>
            <a:ext cx="8961120" cy="438912"/>
          </a:xfrm>
          <a:prstGeom prst="rect">
            <a:avLst/>
          </a:prstGeom>
          <a:noFill/>
          <a:ln/>
        </p:spPr>
        <p:txBody>
          <a:bodyPr wrap="square" lIns="0" tIns="0" rIns="0" bIns="0" rtlCol="0" anchor="ctr"/>
          <a:lstStyle/>
          <a:p>
            <a:pPr indent="0" marL="0">
              <a:buNone/>
            </a:pPr>
            <a:r>
              <a:rPr lang="en-US" sz="2500" b="1" dirty="0">
                <a:solidFill>
                  <a:srgbClr val="F3FAF7"/>
                </a:solidFill>
                <a:latin typeface="Aptos Display" pitchFamily="34" charset="0"/>
                <a:ea typeface="Aptos Display" pitchFamily="34" charset="-122"/>
                <a:cs typeface="Aptos Display" pitchFamily="34" charset="-120"/>
              </a:rPr>
              <a:t>What is honest today, what scales next</a:t>
            </a:r>
            <a:endParaRPr lang="en-US" sz="2500" dirty="0"/>
          </a:p>
        </p:txBody>
      </p:sp>
      <p:sp>
        <p:nvSpPr>
          <p:cNvPr id="3" name="Text 1"/>
          <p:cNvSpPr/>
          <p:nvPr/>
        </p:nvSpPr>
        <p:spPr>
          <a:xfrm>
            <a:off x="530352" y="786384"/>
            <a:ext cx="9875520" cy="256032"/>
          </a:xfrm>
          <a:prstGeom prst="rect">
            <a:avLst/>
          </a:prstGeom>
          <a:noFill/>
          <a:ln/>
        </p:spPr>
        <p:txBody>
          <a:bodyPr wrap="square" lIns="0" tIns="0" rIns="0" bIns="0" rtlCol="0" anchor="ctr"/>
          <a:lstStyle/>
          <a:p>
            <a:pPr indent="0" marL="0">
              <a:buNone/>
            </a:pPr>
            <a:r>
              <a:rPr lang="en-US" sz="850" dirty="0">
                <a:solidFill>
                  <a:srgbClr val="13C99B"/>
                </a:solidFill>
              </a:rPr>
              <a:t>PRESENTABLE NOW; EXPANDABLE NEXT</a:t>
            </a:r>
            <a:endParaRPr lang="en-US" sz="850" dirty="0"/>
          </a:p>
        </p:txBody>
      </p:sp>
      <p:sp>
        <p:nvSpPr>
          <p:cNvPr id="4" name="Shape 2"/>
          <p:cNvSpPr/>
          <p:nvPr/>
        </p:nvSpPr>
        <p:spPr>
          <a:xfrm>
            <a:off x="502920" y="1069848"/>
            <a:ext cx="11155680" cy="0"/>
          </a:xfrm>
          <a:prstGeom prst="line">
            <a:avLst/>
          </a:prstGeom>
          <a:noFill/>
          <a:ln w="12700">
            <a:solidFill>
              <a:srgbClr val="225347"/>
            </a:solidFill>
            <a:prstDash val="solid"/>
          </a:ln>
        </p:spPr>
      </p:sp>
      <p:sp>
        <p:nvSpPr>
          <p:cNvPr id="5" name="Shape 3"/>
          <p:cNvSpPr/>
          <p:nvPr/>
        </p:nvSpPr>
        <p:spPr>
          <a:xfrm>
            <a:off x="685800" y="1325880"/>
            <a:ext cx="4846320" cy="4434840"/>
          </a:xfrm>
          <a:prstGeom prst="roundRect">
            <a:avLst>
              <a:gd name="adj" fmla="val 1649"/>
            </a:avLst>
          </a:prstGeom>
          <a:solidFill>
            <a:srgbClr val="0D241E"/>
          </a:solidFill>
          <a:ln w="12700">
            <a:solidFill>
              <a:srgbClr val="225347"/>
            </a:solidFill>
            <a:prstDash val="solid"/>
          </a:ln>
        </p:spPr>
      </p:sp>
      <p:sp>
        <p:nvSpPr>
          <p:cNvPr id="6" name="Text 4"/>
          <p:cNvSpPr/>
          <p:nvPr/>
        </p:nvSpPr>
        <p:spPr>
          <a:xfrm>
            <a:off x="850392" y="1463040"/>
            <a:ext cx="4517136" cy="274320"/>
          </a:xfrm>
          <a:prstGeom prst="rect">
            <a:avLst/>
          </a:prstGeom>
          <a:noFill/>
          <a:ln/>
        </p:spPr>
        <p:txBody>
          <a:bodyPr wrap="square" lIns="0" tIns="0" rIns="0" bIns="0" rtlCol="0" anchor="ctr"/>
          <a:lstStyle/>
          <a:p>
            <a:pPr indent="0" marL="0">
              <a:buNone/>
            </a:pPr>
            <a:r>
              <a:rPr lang="en-US" sz="1200" b="1" dirty="0">
                <a:solidFill>
                  <a:srgbClr val="F3FAF7"/>
                </a:solidFill>
              </a:rPr>
              <a:t>Current validated scope</a:t>
            </a:r>
            <a:endParaRPr lang="en-US" sz="1200" dirty="0"/>
          </a:p>
        </p:txBody>
      </p:sp>
      <p:sp>
        <p:nvSpPr>
          <p:cNvPr id="7" name="Shape 5"/>
          <p:cNvSpPr/>
          <p:nvPr/>
        </p:nvSpPr>
        <p:spPr>
          <a:xfrm>
            <a:off x="850392" y="1801368"/>
            <a:ext cx="4517136" cy="0"/>
          </a:xfrm>
          <a:prstGeom prst="line">
            <a:avLst/>
          </a:prstGeom>
          <a:noFill/>
          <a:ln w="12700">
            <a:solidFill>
              <a:srgbClr val="FFB86B"/>
            </a:solidFill>
            <a:prstDash val="solid"/>
          </a:ln>
        </p:spPr>
      </p:sp>
      <p:sp>
        <p:nvSpPr>
          <p:cNvPr id="8" name="Text 6"/>
          <p:cNvSpPr/>
          <p:nvPr/>
        </p:nvSpPr>
        <p:spPr>
          <a:xfrm>
            <a:off x="850392" y="1938528"/>
            <a:ext cx="4517136" cy="365760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Five-city operational prototype. Live path uses accessible online providers; demo remains robust through validated replay fallback. No GHSL population, no Sentinel valid pixels, no regulatory source apportionment claim.</a:t>
            </a:r>
            <a:endParaRPr lang="en-US" sz="870" dirty="0"/>
          </a:p>
        </p:txBody>
      </p:sp>
      <p:sp>
        <p:nvSpPr>
          <p:cNvPr id="9" name="Shape 7"/>
          <p:cNvSpPr/>
          <p:nvPr/>
        </p:nvSpPr>
        <p:spPr>
          <a:xfrm>
            <a:off x="6446520" y="1325880"/>
            <a:ext cx="4846320" cy="4434840"/>
          </a:xfrm>
          <a:prstGeom prst="roundRect">
            <a:avLst>
              <a:gd name="adj" fmla="val 1649"/>
            </a:avLst>
          </a:prstGeom>
          <a:solidFill>
            <a:srgbClr val="0D241E"/>
          </a:solidFill>
          <a:ln w="12700">
            <a:solidFill>
              <a:srgbClr val="225347"/>
            </a:solidFill>
            <a:prstDash val="solid"/>
          </a:ln>
        </p:spPr>
      </p:sp>
      <p:sp>
        <p:nvSpPr>
          <p:cNvPr id="10" name="Text 8"/>
          <p:cNvSpPr/>
          <p:nvPr/>
        </p:nvSpPr>
        <p:spPr>
          <a:xfrm>
            <a:off x="6611112" y="1463040"/>
            <a:ext cx="4517136" cy="274320"/>
          </a:xfrm>
          <a:prstGeom prst="rect">
            <a:avLst/>
          </a:prstGeom>
          <a:noFill/>
          <a:ln/>
        </p:spPr>
        <p:txBody>
          <a:bodyPr wrap="square" lIns="0" tIns="0" rIns="0" bIns="0" rtlCol="0" anchor="ctr"/>
          <a:lstStyle/>
          <a:p>
            <a:pPr indent="0" marL="0">
              <a:buNone/>
            </a:pPr>
            <a:r>
              <a:rPr lang="en-US" sz="1200" b="1" dirty="0">
                <a:solidFill>
                  <a:srgbClr val="F3FAF7"/>
                </a:solidFill>
              </a:rPr>
              <a:t>Next scaling step</a:t>
            </a:r>
            <a:endParaRPr lang="en-US" sz="1200" dirty="0"/>
          </a:p>
        </p:txBody>
      </p:sp>
      <p:sp>
        <p:nvSpPr>
          <p:cNvPr id="11" name="Shape 9"/>
          <p:cNvSpPr/>
          <p:nvPr/>
        </p:nvSpPr>
        <p:spPr>
          <a:xfrm>
            <a:off x="6611112" y="1801368"/>
            <a:ext cx="4517136" cy="0"/>
          </a:xfrm>
          <a:prstGeom prst="line">
            <a:avLst/>
          </a:prstGeom>
          <a:noFill/>
          <a:ln w="12700">
            <a:solidFill>
              <a:srgbClr val="13C99B"/>
            </a:solidFill>
            <a:prstDash val="solid"/>
          </a:ln>
        </p:spPr>
      </p:sp>
      <p:sp>
        <p:nvSpPr>
          <p:cNvPr id="12" name="Text 10"/>
          <p:cNvSpPr/>
          <p:nvPr/>
        </p:nvSpPr>
        <p:spPr>
          <a:xfrm>
            <a:off x="6611112" y="1938528"/>
            <a:ext cx="4517136" cy="3657600"/>
          </a:xfrm>
          <a:prstGeom prst="rect">
            <a:avLst/>
          </a:prstGeom>
          <a:noFill/>
          <a:ln/>
        </p:spPr>
        <p:txBody>
          <a:bodyPr wrap="square" lIns="127" tIns="127" rIns="127" bIns="127" rtlCol="0" anchor="ctr">
            <a:normAutofit/>
          </a:bodyPr>
          <a:lstStyle/>
          <a:p>
            <a:pPr indent="0" marL="0">
              <a:buNone/>
            </a:pPr>
            <a:r>
              <a:rPr lang="en-US" sz="870" dirty="0">
                <a:solidFill>
                  <a:srgbClr val="B6C8C1"/>
                </a:solidFill>
              </a:rPr>
              <a:t>Add more Indian cities through the same versioned pipeline: discover stations, rank readiness, selectively download archive partitions, enrich weather/FIRMS/OSM, train/evaluate, and auto-register in the existing command centre.</a:t>
            </a:r>
            <a:endParaRPr lang="en-US" sz="870" dirty="0"/>
          </a:p>
        </p:txBody>
      </p:sp>
      <p:sp>
        <p:nvSpPr>
          <p:cNvPr id="13" name="Text 11"/>
          <p:cNvSpPr/>
          <p:nvPr/>
        </p:nvSpPr>
        <p:spPr>
          <a:xfrm>
            <a:off x="502920" y="6510528"/>
            <a:ext cx="4572000" cy="164592"/>
          </a:xfrm>
          <a:prstGeom prst="rect">
            <a:avLst/>
          </a:prstGeom>
          <a:noFill/>
          <a:ln/>
        </p:spPr>
        <p:txBody>
          <a:bodyPr wrap="square" lIns="0" tIns="0" rIns="0" bIns="0" rtlCol="0" anchor="ctr"/>
          <a:lstStyle/>
          <a:p>
            <a:pPr indent="0" marL="0">
              <a:buNone/>
            </a:pPr>
            <a:r>
              <a:rPr lang="en-US" sz="700" dirty="0">
                <a:solidFill>
                  <a:srgbClr val="B6C8C1"/>
                </a:solidFill>
              </a:rPr>
              <a:t>AirView AI | ET AI Hackathon 2.0 | PS5</a:t>
            </a:r>
            <a:endParaRPr lang="en-US" sz="700" dirty="0"/>
          </a:p>
        </p:txBody>
      </p:sp>
      <p:sp>
        <p:nvSpPr>
          <p:cNvPr id="14" name="Text 12"/>
          <p:cNvSpPr/>
          <p:nvPr/>
        </p:nvSpPr>
        <p:spPr>
          <a:xfrm>
            <a:off x="11247120" y="6473952"/>
            <a:ext cx="411480" cy="182880"/>
          </a:xfrm>
          <a:prstGeom prst="rect">
            <a:avLst/>
          </a:prstGeom>
          <a:noFill/>
          <a:ln/>
        </p:spPr>
        <p:txBody>
          <a:bodyPr wrap="square" lIns="0" tIns="0" rIns="0" bIns="0" rtlCol="0" anchor="ctr"/>
          <a:lstStyle/>
          <a:p>
            <a:pPr algn="r" indent="0" marL="0">
              <a:buNone/>
            </a:pPr>
            <a:r>
              <a:rPr lang="en-US" sz="800" dirty="0">
                <a:solidFill>
                  <a:srgbClr val="B6C8C1"/>
                </a:solidFill>
              </a:rPr>
              <a:t>09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AirView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AirView AI</dc:title>
  <dc:subject>ET AI Hackathon 2.0 PS5</dc:subject>
  <dc:creator>AirView AI</dc:creator>
  <cp:lastModifiedBy>AirView AI</cp:lastModifiedBy>
  <cp:revision>1</cp:revision>
  <dcterms:created xsi:type="dcterms:W3CDTF">2026-07-21T18:35:06Z</dcterms:created>
  <dcterms:modified xsi:type="dcterms:W3CDTF">2026-07-21T18:35:06Z</dcterms:modified>
</cp:coreProperties>
</file>